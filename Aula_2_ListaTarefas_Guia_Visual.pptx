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CB3F99-0146-7C03-1B8E-19A22B8874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FB47809-A7F3-AFF1-3AF5-29F60065C6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EC1447F-A805-4EF1-D7A4-2A2C38613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B368D-1C53-47FE-B433-95DE5B8A1F51}" type="datetimeFigureOut">
              <a:rPr lang="pt-BR" smtClean="0"/>
              <a:t>25/09/2026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1817765-E507-7851-6A95-BFB10458D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1DCCE0-945F-9893-919C-0798E3423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A2A24-765A-4003-BAFB-067F48C9B2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2113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506CFA-C373-DC95-1890-F1028C602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4344A9-0DFE-7789-D46E-EB0DA267C0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7213489-0908-1941-B59F-28C5C9178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B368D-1C53-47FE-B433-95DE5B8A1F51}" type="datetimeFigureOut">
              <a:rPr lang="pt-BR" smtClean="0"/>
              <a:t>25/09/2026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34C6C64-E85A-82E3-1EB1-DCF71E974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9D91ED4-7D1A-B864-8FFF-744072F73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A2A24-765A-4003-BAFB-067F48C9B2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4558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47A725-3F73-893A-029D-8CDEB0752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759BFA4-27E2-09BE-8949-25F45EB21C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C9A1966-9C22-C047-277F-16F93EA14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B368D-1C53-47FE-B433-95DE5B8A1F51}" type="datetimeFigureOut">
              <a:rPr lang="pt-BR" smtClean="0"/>
              <a:t>25/09/2026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6F934E9-D035-E3B6-4119-8C13A3F42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1F2BBAF-1767-9AD9-6835-DCEC1B65B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A2A24-765A-4003-BAFB-067F48C9B2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3254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ED062A-309C-D559-2B62-A89BDAEFC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6DFFBC7-12E0-86E7-0FA8-7876F05DDA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6AF0BAC-B73E-292B-41B0-C855C33949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81BC9A2-5197-53F2-2CB7-FEAC7808B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B368D-1C53-47FE-B433-95DE5B8A1F51}" type="datetimeFigureOut">
              <a:rPr lang="pt-BR" smtClean="0"/>
              <a:t>25/09/2026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F6D2972-678F-0CCC-FE73-9353FB815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67F8588-7256-6B8F-5FA8-E1E7F5FD4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A2A24-765A-4003-BAFB-067F48C9B2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6361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695F7F-E992-4B76-22B5-003EF3A4E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5F312B2-E7E7-8D18-936A-114E5B031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5F8A33C-B59C-443B-E818-A6FF09F4DE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0676C6E-A630-7E56-CA52-849FCA1ED7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CB355CC-EEE4-04DE-BABE-C2150D9DBB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14390AC-B026-A256-CC51-C0A98448C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B368D-1C53-47FE-B433-95DE5B8A1F51}" type="datetimeFigureOut">
              <a:rPr lang="pt-BR" smtClean="0"/>
              <a:t>25/09/2026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E194DC2-F26F-EE37-D449-998A2E5A8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1A24FAF-A2B6-DF59-CD03-3425C73F2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A2A24-765A-4003-BAFB-067F48C9B2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5401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5B89C3-1DED-A6A9-9701-C4AD3FD81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5E0E7E3-72D5-4F49-70ED-2A613BE91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B368D-1C53-47FE-B433-95DE5B8A1F51}" type="datetimeFigureOut">
              <a:rPr lang="pt-BR" smtClean="0"/>
              <a:t>25/09/2026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FF11D93-3463-4E56-80B4-EAB3316AA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F415280-7164-F85C-C0D0-9BB8BF589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A2A24-765A-4003-BAFB-067F48C9B2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4146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C6074FD-E465-9179-7044-CB1D2AF44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B368D-1C53-47FE-B433-95DE5B8A1F51}" type="datetimeFigureOut">
              <a:rPr lang="pt-BR" smtClean="0"/>
              <a:t>25/09/2026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AAA4DB7-32C4-E74C-7A05-2B41008B5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CE169BC-1F53-F7E7-5E95-51C651851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A2A24-765A-4003-BAFB-067F48C9B2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551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AADED9-B66A-71D4-2050-D74D7B684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F2951F-95CC-FEF2-9C08-FE5CEE1220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3525B19-49D6-DE0F-08D2-BA1E8F2AF8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EEBD2B0-EFA5-99E0-6A34-D3F41D55E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B368D-1C53-47FE-B433-95DE5B8A1F51}" type="datetimeFigureOut">
              <a:rPr lang="pt-BR" smtClean="0"/>
              <a:t>25/09/2026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89165CF-9499-B97B-3998-C2987D563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60BC3F3-D6BC-30C7-E4C1-F70242951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A2A24-765A-4003-BAFB-067F48C9B2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2034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5D16F6-5722-F275-A09D-5BB10A600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C58CE6F-9759-0981-8EB6-39AFF0FBA1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3AB44B2-5C46-688E-29B9-6AB5F091DA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788E537-5A05-4FAC-F696-71C1B6011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B368D-1C53-47FE-B433-95DE5B8A1F51}" type="datetimeFigureOut">
              <a:rPr lang="pt-BR" smtClean="0"/>
              <a:t>25/09/2026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D9E7C54-17E3-AA53-D5C6-35E2C8C49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ED9D638-10BF-EC9B-B8DB-E42F6530A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A2A24-765A-4003-BAFB-067F48C9B2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6242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A510A3-8D59-FE5C-0D7F-240E493D7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FE7140E-850C-B50A-D96F-0BA55A1747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7A4CBE2-E3D0-37FB-F7AF-05B0555E4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B368D-1C53-47FE-B433-95DE5B8A1F51}" type="datetimeFigureOut">
              <a:rPr lang="pt-BR" smtClean="0"/>
              <a:t>25/09/2026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4D5BE4B-E15E-067C-B094-102B9E630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545B14-9203-61D7-A0CB-F3574A0C7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A2A24-765A-4003-BAFB-067F48C9B2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1523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8E0AEC5-4A8E-FC42-86CB-C77F9808A3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8DB6168-14AE-AF5B-298A-7C0AC15409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E9328B-5542-AA1A-C108-9A2B77355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B368D-1C53-47FE-B433-95DE5B8A1F51}" type="datetimeFigureOut">
              <a:rPr lang="pt-BR" smtClean="0"/>
              <a:t>25/09/2026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755A0E-3894-12D6-0EAF-774E92FBE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31998B9-6E37-EDBA-0099-50672F82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A2A24-765A-4003-BAFB-067F48C9B2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1440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737946B-BE29-526E-5670-19A3116B3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B54C260-872B-076F-5252-3DA2A610CC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36F0F4D-DCE8-1579-7549-B2AA89A0F2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6B368D-1C53-47FE-B433-95DE5B8A1F51}" type="datetimeFigureOut">
              <a:rPr lang="pt-BR" smtClean="0"/>
              <a:t>25/09/2026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920F830-084E-B8A7-CAFA-2654DDC92D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A04CFCE-9D51-6630-7AA1-677FBF852D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8A2A24-765A-4003-BAFB-067F48C9B2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2742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FC448C66-8928-411D-AF08-0A878582BD8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95793BD-4406-A75A-B7A1-23564AA271D6}"/>
              </a:ext>
            </a:extLst>
          </p:cNvPr>
          <p:cNvSpPr txBox="1"/>
          <p:nvPr/>
        </p:nvSpPr>
        <p:spPr>
          <a:xfrm>
            <a:off x="11379200" y="533400"/>
            <a:ext cx="508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100">
                <a:solidFill>
                  <a:srgbClr val="A5B3C9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BB56A02-259F-77BE-0023-7F5E9A318CE2}"/>
              </a:ext>
            </a:extLst>
          </p:cNvPr>
          <p:cNvSpPr txBox="1"/>
          <p:nvPr/>
        </p:nvSpPr>
        <p:spPr>
          <a:xfrm>
            <a:off x="838200" y="6553200"/>
            <a:ext cx="508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00">
                <a:solidFill>
                  <a:srgbClr val="A5B3C9"/>
                </a:solidFill>
                <a:latin typeface="Aptos" panose="020B0004020202020204" pitchFamily="34" charset="0"/>
              </a:rPr>
              <a:t>ListaTarefas  •  Aula 2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787ACA2-3E1C-BFD9-957D-60CC75F8CB9F}"/>
              </a:ext>
            </a:extLst>
          </p:cNvPr>
          <p:cNvSpPr txBox="1"/>
          <p:nvPr/>
        </p:nvSpPr>
        <p:spPr>
          <a:xfrm>
            <a:off x="965200" y="1168400"/>
            <a:ext cx="7620000" cy="80021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5200" b="1">
                <a:solidFill>
                  <a:srgbClr val="F7F9FC"/>
                </a:solidFill>
                <a:latin typeface="Aptos" panose="020B0004020202020204" pitchFamily="34" charset="0"/>
              </a:rPr>
              <a:t>ListaTarefas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21D5573-DBC2-9C12-E6A9-41CCAA41F554}"/>
              </a:ext>
            </a:extLst>
          </p:cNvPr>
          <p:cNvSpPr txBox="1"/>
          <p:nvPr/>
        </p:nvSpPr>
        <p:spPr>
          <a:xfrm>
            <a:off x="990600" y="2349500"/>
            <a:ext cx="7112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600" b="1">
                <a:solidFill>
                  <a:srgbClr val="2FC6F4"/>
                </a:solidFill>
                <a:latin typeface="Aptos" panose="020B0004020202020204" pitchFamily="34" charset="0"/>
              </a:rPr>
              <a:t>Um app funcional com Expo e Firestore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30FA997-B031-307C-B54E-F79BFF0D2427}"/>
              </a:ext>
            </a:extLst>
          </p:cNvPr>
          <p:cNvSpPr txBox="1"/>
          <p:nvPr/>
        </p:nvSpPr>
        <p:spPr>
          <a:xfrm>
            <a:off x="1016000" y="3810000"/>
            <a:ext cx="6604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100">
                <a:solidFill>
                  <a:srgbClr val="A5B3C9"/>
                </a:solidFill>
                <a:latin typeface="Aptos" panose="020B0004020202020204" pitchFamily="34" charset="0"/>
              </a:rPr>
              <a:t>Aula 2  •  guia visual para acompanhar a prática no VS Code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BCFA3A3C-AACD-BF7C-A4B0-0C6A5C7F433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0046" y="609600"/>
            <a:ext cx="3067908" cy="553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487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62490BA2-F3B2-E3F4-3AD1-ED72B93A6D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DF0E0E2-13DD-E3A7-E271-39E892142ABA}"/>
              </a:ext>
            </a:extLst>
          </p:cNvPr>
          <p:cNvSpPr txBox="1"/>
          <p:nvPr/>
        </p:nvSpPr>
        <p:spPr>
          <a:xfrm>
            <a:off x="812800" y="457200"/>
            <a:ext cx="10414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3100" b="1">
                <a:solidFill>
                  <a:srgbClr val="F7F9FC"/>
                </a:solidFill>
                <a:latin typeface="Aptos" panose="020B0004020202020204" pitchFamily="34" charset="0"/>
              </a:rPr>
              <a:t>O que o aplicativo faz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95A7D06-97B3-1889-1C72-9B1DD8882525}"/>
              </a:ext>
            </a:extLst>
          </p:cNvPr>
          <p:cNvSpPr txBox="1"/>
          <p:nvPr/>
        </p:nvSpPr>
        <p:spPr>
          <a:xfrm>
            <a:off x="838200" y="1219200"/>
            <a:ext cx="10541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>
                <a:solidFill>
                  <a:srgbClr val="A5B3C9"/>
                </a:solidFill>
                <a:latin typeface="Aptos" panose="020B0004020202020204" pitchFamily="34" charset="0"/>
              </a:rPr>
              <a:t>Uma tela simples para praticar interface, eventos e dados.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5401C97-FF9C-827B-9954-9C8FB820BFA1}"/>
              </a:ext>
            </a:extLst>
          </p:cNvPr>
          <p:cNvSpPr txBox="1"/>
          <p:nvPr/>
        </p:nvSpPr>
        <p:spPr>
          <a:xfrm>
            <a:off x="11379200" y="533400"/>
            <a:ext cx="508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100">
                <a:solidFill>
                  <a:srgbClr val="A5B3C9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6CA7880-64C9-6FB6-E87E-174C9CC9C000}"/>
              </a:ext>
            </a:extLst>
          </p:cNvPr>
          <p:cNvSpPr txBox="1"/>
          <p:nvPr/>
        </p:nvSpPr>
        <p:spPr>
          <a:xfrm>
            <a:off x="838200" y="6553200"/>
            <a:ext cx="508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00">
                <a:solidFill>
                  <a:srgbClr val="A5B3C9"/>
                </a:solidFill>
                <a:latin typeface="Aptos" panose="020B0004020202020204" pitchFamily="34" charset="0"/>
              </a:rPr>
              <a:t>ListaTarefas  •  Aula 2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D5637A1-12EC-77F6-DC43-249B3C78D991}"/>
              </a:ext>
            </a:extLst>
          </p:cNvPr>
          <p:cNvSpPr txBox="1"/>
          <p:nvPr/>
        </p:nvSpPr>
        <p:spPr>
          <a:xfrm>
            <a:off x="965200" y="2159000"/>
            <a:ext cx="393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400" b="1">
                <a:solidFill>
                  <a:srgbClr val="2FC6F4"/>
                </a:solidFill>
                <a:latin typeface="Aptos" panose="020B0004020202020204" pitchFamily="34" charset="0"/>
              </a:rPr>
              <a:t>Digite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8F5D623-90BF-48D0-2DC1-E0771BF8EF97}"/>
              </a:ext>
            </a:extLst>
          </p:cNvPr>
          <p:cNvSpPr txBox="1"/>
          <p:nvPr/>
        </p:nvSpPr>
        <p:spPr>
          <a:xfrm>
            <a:off x="4953000" y="2184400"/>
            <a:ext cx="6350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000">
                <a:solidFill>
                  <a:srgbClr val="F7F9FC"/>
                </a:solidFill>
                <a:latin typeface="Aptos" panose="020B0004020202020204" pitchFamily="34" charset="0"/>
              </a:rPr>
              <a:t>O campo recebe o título de uma tarefa.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DB321C2-1CC1-6A1E-A6E6-B864B1C357CA}"/>
              </a:ext>
            </a:extLst>
          </p:cNvPr>
          <p:cNvSpPr txBox="1"/>
          <p:nvPr/>
        </p:nvSpPr>
        <p:spPr>
          <a:xfrm>
            <a:off x="965200" y="3111500"/>
            <a:ext cx="393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400" b="1">
                <a:solidFill>
                  <a:srgbClr val="2BD3A4"/>
                </a:solidFill>
                <a:latin typeface="Aptos" panose="020B0004020202020204" pitchFamily="34" charset="0"/>
              </a:rPr>
              <a:t>Adicione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836C108-B6D1-6458-0460-0CC16EA698D8}"/>
              </a:ext>
            </a:extLst>
          </p:cNvPr>
          <p:cNvSpPr txBox="1"/>
          <p:nvPr/>
        </p:nvSpPr>
        <p:spPr>
          <a:xfrm>
            <a:off x="4953000" y="3136900"/>
            <a:ext cx="6350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000">
                <a:solidFill>
                  <a:srgbClr val="F7F9FC"/>
                </a:solidFill>
                <a:latin typeface="Aptos" panose="020B0004020202020204" pitchFamily="34" charset="0"/>
              </a:rPr>
              <a:t>O botão cria um documento no Firestore.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B172A185-A354-6642-B948-8A8EAA58767D}"/>
              </a:ext>
            </a:extLst>
          </p:cNvPr>
          <p:cNvSpPr txBox="1"/>
          <p:nvPr/>
        </p:nvSpPr>
        <p:spPr>
          <a:xfrm>
            <a:off x="965200" y="4064000"/>
            <a:ext cx="393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400" b="1">
                <a:solidFill>
                  <a:srgbClr val="FFC652"/>
                </a:solidFill>
                <a:latin typeface="Aptos" panose="020B0004020202020204" pitchFamily="34" charset="0"/>
              </a:rPr>
              <a:t>Organize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D5D201E-1708-E79E-DCB3-5ACA820C3DD3}"/>
              </a:ext>
            </a:extLst>
          </p:cNvPr>
          <p:cNvSpPr txBox="1"/>
          <p:nvPr/>
        </p:nvSpPr>
        <p:spPr>
          <a:xfrm>
            <a:off x="4953000" y="4089400"/>
            <a:ext cx="6350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000">
                <a:solidFill>
                  <a:srgbClr val="F7F9FC"/>
                </a:solidFill>
                <a:latin typeface="Aptos" panose="020B0004020202020204" pitchFamily="34" charset="0"/>
              </a:rPr>
              <a:t>A lista carrega, conclui e exclui tarefas.</a:t>
            </a:r>
          </a:p>
        </p:txBody>
      </p:sp>
    </p:spTree>
    <p:extLst>
      <p:ext uri="{BB962C8B-B14F-4D97-AF65-F5344CB8AC3E}">
        <p14:creationId xmlns:p14="http://schemas.microsoft.com/office/powerpoint/2010/main" val="1344410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A4F22246-8017-C3AC-0142-AD266CFB82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2126019-B2DF-0131-8150-A2EA4AAD13E4}"/>
              </a:ext>
            </a:extLst>
          </p:cNvPr>
          <p:cNvSpPr txBox="1"/>
          <p:nvPr/>
        </p:nvSpPr>
        <p:spPr>
          <a:xfrm>
            <a:off x="812800" y="457200"/>
            <a:ext cx="10414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3100" b="1">
                <a:solidFill>
                  <a:srgbClr val="F7F9FC"/>
                </a:solidFill>
                <a:latin typeface="Aptos" panose="020B0004020202020204" pitchFamily="34" charset="0"/>
              </a:rPr>
              <a:t>Prepare o ambiente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B7E882A-C035-5B3D-422D-1FF2A5CA1250}"/>
              </a:ext>
            </a:extLst>
          </p:cNvPr>
          <p:cNvSpPr txBox="1"/>
          <p:nvPr/>
        </p:nvSpPr>
        <p:spPr>
          <a:xfrm>
            <a:off x="838200" y="1219200"/>
            <a:ext cx="10541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>
                <a:solidFill>
                  <a:srgbClr val="A5B3C9"/>
                </a:solidFill>
                <a:latin typeface="Aptos" panose="020B0004020202020204" pitchFamily="34" charset="0"/>
              </a:rPr>
              <a:t>Instale as ferramentas e abra o projeto no VS Code.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8DD0BB9-2E87-0036-3432-454693FBFAF2}"/>
              </a:ext>
            </a:extLst>
          </p:cNvPr>
          <p:cNvSpPr txBox="1"/>
          <p:nvPr/>
        </p:nvSpPr>
        <p:spPr>
          <a:xfrm>
            <a:off x="11379200" y="533400"/>
            <a:ext cx="508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100">
                <a:solidFill>
                  <a:srgbClr val="A5B3C9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8630BD1-DB2E-B3AB-E122-CCC4791DEF2C}"/>
              </a:ext>
            </a:extLst>
          </p:cNvPr>
          <p:cNvSpPr txBox="1"/>
          <p:nvPr/>
        </p:nvSpPr>
        <p:spPr>
          <a:xfrm>
            <a:off x="838200" y="6553200"/>
            <a:ext cx="508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00">
                <a:solidFill>
                  <a:srgbClr val="A5B3C9"/>
                </a:solidFill>
                <a:latin typeface="Aptos" panose="020B0004020202020204" pitchFamily="34" charset="0"/>
              </a:rPr>
              <a:t>ListaTarefas  •  Aula 2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3BFE0E9-BAC8-5DCB-0B1B-C68DB2AC7512}"/>
              </a:ext>
            </a:extLst>
          </p:cNvPr>
          <p:cNvSpPr txBox="1"/>
          <p:nvPr/>
        </p:nvSpPr>
        <p:spPr>
          <a:xfrm>
            <a:off x="965200" y="2095500"/>
            <a:ext cx="393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400" b="1">
                <a:solidFill>
                  <a:srgbClr val="2FC6F4"/>
                </a:solidFill>
                <a:latin typeface="Aptos" panose="020B0004020202020204" pitchFamily="34" charset="0"/>
              </a:rPr>
              <a:t>Node.js LTS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1990F0C-A36F-1B2B-EF54-62F5C7B4F221}"/>
              </a:ext>
            </a:extLst>
          </p:cNvPr>
          <p:cNvSpPr txBox="1"/>
          <p:nvPr/>
        </p:nvSpPr>
        <p:spPr>
          <a:xfrm>
            <a:off x="4953000" y="2120900"/>
            <a:ext cx="6350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000">
                <a:solidFill>
                  <a:srgbClr val="F7F9FC"/>
                </a:solidFill>
                <a:latin typeface="Aptos" panose="020B0004020202020204" pitchFamily="34" charset="0"/>
              </a:rPr>
              <a:t>Traz o npm e executa as ferramentas do projeto.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BB9F9B7-1FDD-8A12-DBBC-46DDFE4B1CDF}"/>
              </a:ext>
            </a:extLst>
          </p:cNvPr>
          <p:cNvSpPr txBox="1"/>
          <p:nvPr/>
        </p:nvSpPr>
        <p:spPr>
          <a:xfrm>
            <a:off x="965200" y="3111500"/>
            <a:ext cx="393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400" b="1">
                <a:solidFill>
                  <a:srgbClr val="2BD3A4"/>
                </a:solidFill>
                <a:latin typeface="Aptos" panose="020B0004020202020204" pitchFamily="34" charset="0"/>
              </a:rPr>
              <a:t>VS Code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8547D31-BCD1-395C-7A6C-C40B1A8E8856}"/>
              </a:ext>
            </a:extLst>
          </p:cNvPr>
          <p:cNvSpPr txBox="1"/>
          <p:nvPr/>
        </p:nvSpPr>
        <p:spPr>
          <a:xfrm>
            <a:off x="4953000" y="3136900"/>
            <a:ext cx="6350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000">
                <a:solidFill>
                  <a:srgbClr val="F7F9FC"/>
                </a:solidFill>
                <a:latin typeface="Aptos" panose="020B0004020202020204" pitchFamily="34" charset="0"/>
              </a:rPr>
              <a:t>Onde escrevemos o app e abrimos o terminal.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F630FDD7-E6AE-A83F-D4EC-95CBF6BC61A7}"/>
              </a:ext>
            </a:extLst>
          </p:cNvPr>
          <p:cNvSpPr txBox="1"/>
          <p:nvPr/>
        </p:nvSpPr>
        <p:spPr>
          <a:xfrm>
            <a:off x="965200" y="4127500"/>
            <a:ext cx="393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400" b="1">
                <a:solidFill>
                  <a:srgbClr val="FFC652"/>
                </a:solidFill>
                <a:latin typeface="Aptos" panose="020B0004020202020204" pitchFamily="34" charset="0"/>
              </a:rPr>
              <a:t>Expo Go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5A28E1F4-8E83-6899-16D9-8FBDEAF50790}"/>
              </a:ext>
            </a:extLst>
          </p:cNvPr>
          <p:cNvSpPr txBox="1"/>
          <p:nvPr/>
        </p:nvSpPr>
        <p:spPr>
          <a:xfrm>
            <a:off x="4953000" y="4152900"/>
            <a:ext cx="6350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000">
                <a:solidFill>
                  <a:srgbClr val="F7F9FC"/>
                </a:solidFill>
                <a:latin typeface="Aptos" panose="020B0004020202020204" pitchFamily="34" charset="0"/>
              </a:rPr>
              <a:t>Use a versão compatível com o SDK 58 no Android.</a:t>
            </a:r>
          </a:p>
        </p:txBody>
      </p:sp>
    </p:spTree>
    <p:extLst>
      <p:ext uri="{BB962C8B-B14F-4D97-AF65-F5344CB8AC3E}">
        <p14:creationId xmlns:p14="http://schemas.microsoft.com/office/powerpoint/2010/main" val="2473655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4F0469B-DCDF-1037-72C8-20BFC447EC6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722E310-0E5B-BE82-4770-7AAEF5F14472}"/>
              </a:ext>
            </a:extLst>
          </p:cNvPr>
          <p:cNvSpPr txBox="1"/>
          <p:nvPr/>
        </p:nvSpPr>
        <p:spPr>
          <a:xfrm>
            <a:off x="812800" y="457200"/>
            <a:ext cx="10414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3100" b="1">
                <a:solidFill>
                  <a:srgbClr val="F7F9FC"/>
                </a:solidFill>
                <a:latin typeface="Aptos" panose="020B0004020202020204" pitchFamily="34" charset="0"/>
              </a:rPr>
              <a:t>Confira o SDK 58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8970F74-786E-C759-5EA8-96C1D111B5BB}"/>
              </a:ext>
            </a:extLst>
          </p:cNvPr>
          <p:cNvSpPr txBox="1"/>
          <p:nvPr/>
        </p:nvSpPr>
        <p:spPr>
          <a:xfrm>
            <a:off x="838200" y="1219200"/>
            <a:ext cx="10541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>
                <a:solidFill>
                  <a:srgbClr val="A5B3C9"/>
                </a:solidFill>
                <a:latin typeface="Aptos" panose="020B0004020202020204" pitchFamily="34" charset="0"/>
              </a:rPr>
              <a:t>O arquivo package.json identifica a versão usada pelo projeto.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4ADAA46-7473-0C01-E138-6D51BCA0230B}"/>
              </a:ext>
            </a:extLst>
          </p:cNvPr>
          <p:cNvSpPr txBox="1"/>
          <p:nvPr/>
        </p:nvSpPr>
        <p:spPr>
          <a:xfrm>
            <a:off x="11379200" y="533400"/>
            <a:ext cx="508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100">
                <a:solidFill>
                  <a:srgbClr val="A5B3C9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110ABD4-DED8-9C3F-A4E8-B3F5B6A0293F}"/>
              </a:ext>
            </a:extLst>
          </p:cNvPr>
          <p:cNvSpPr txBox="1"/>
          <p:nvPr/>
        </p:nvSpPr>
        <p:spPr>
          <a:xfrm>
            <a:off x="838200" y="6553200"/>
            <a:ext cx="508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00">
                <a:solidFill>
                  <a:srgbClr val="A5B3C9"/>
                </a:solidFill>
                <a:latin typeface="Aptos" panose="020B0004020202020204" pitchFamily="34" charset="0"/>
              </a:rPr>
              <a:t>ListaTarefas  •  Aula 2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B30F7274-DCE9-4B53-F3F1-5C01AC9C800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096" y="1854200"/>
            <a:ext cx="6036408" cy="4241800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B3BB0C66-926B-FFF9-044E-E1CB2E144B08}"/>
              </a:ext>
            </a:extLst>
          </p:cNvPr>
          <p:cNvSpPr txBox="1"/>
          <p:nvPr/>
        </p:nvSpPr>
        <p:spPr>
          <a:xfrm>
            <a:off x="8255000" y="2133600"/>
            <a:ext cx="3175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3000" b="1">
                <a:solidFill>
                  <a:srgbClr val="2FC6F4"/>
                </a:solidFill>
                <a:latin typeface="Aptos" panose="020B0004020202020204" pitchFamily="34" charset="0"/>
              </a:rPr>
              <a:t>SDK 58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039C32C-466A-BF14-8205-FB3E04BAEC44}"/>
              </a:ext>
            </a:extLst>
          </p:cNvPr>
          <p:cNvSpPr txBox="1"/>
          <p:nvPr/>
        </p:nvSpPr>
        <p:spPr>
          <a:xfrm>
            <a:off x="8255000" y="2895600"/>
            <a:ext cx="3149600" cy="12926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100">
                <a:solidFill>
                  <a:srgbClr val="F7F9FC"/>
                </a:solidFill>
                <a:latin typeface="Aptos" panose="020B0004020202020204" pitchFamily="34" charset="0"/>
              </a:rPr>
              <a:t>Nesta data, o SDK 58 está em prévia. O Expo Go das lojas ainda não é compatível.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415B480-5A12-2C09-EFA4-4DA85B169492}"/>
              </a:ext>
            </a:extLst>
          </p:cNvPr>
          <p:cNvSpPr txBox="1"/>
          <p:nvPr/>
        </p:nvSpPr>
        <p:spPr>
          <a:xfrm>
            <a:off x="8255000" y="5727700"/>
            <a:ext cx="3429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sv-SE" sz="1000">
                <a:solidFill>
                  <a:srgbClr val="A5B3C9"/>
                </a:solidFill>
                <a:latin typeface="Aptos" panose="020B0004020202020204" pitchFamily="34" charset="0"/>
              </a:rPr>
              <a:t>Fonte: expo.dev/changelog/sdk-58-beta</a:t>
            </a:r>
            <a:endParaRPr lang="pt-BR" sz="1000">
              <a:solidFill>
                <a:srgbClr val="A5B3C9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2716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2799AEF-6087-BCEA-2D24-321F4EBB2F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F1CC3EA-BA69-5A1F-CBAC-74DC61F314B2}"/>
              </a:ext>
            </a:extLst>
          </p:cNvPr>
          <p:cNvSpPr txBox="1"/>
          <p:nvPr/>
        </p:nvSpPr>
        <p:spPr>
          <a:xfrm>
            <a:off x="812800" y="457200"/>
            <a:ext cx="10414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3100" b="1">
                <a:solidFill>
                  <a:srgbClr val="F7F9FC"/>
                </a:solidFill>
                <a:latin typeface="Aptos" panose="020B0004020202020204" pitchFamily="34" charset="0"/>
              </a:rPr>
              <a:t>Abra no celular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B4BE434-FD9F-03F6-EF01-DC5645418CFB}"/>
              </a:ext>
            </a:extLst>
          </p:cNvPr>
          <p:cNvSpPr txBox="1"/>
          <p:nvPr/>
        </p:nvSpPr>
        <p:spPr>
          <a:xfrm>
            <a:off x="838200" y="1219200"/>
            <a:ext cx="10541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>
                <a:solidFill>
                  <a:srgbClr val="A5B3C9"/>
                </a:solidFill>
                <a:latin typeface="Aptos" panose="020B0004020202020204" pitchFamily="34" charset="0"/>
              </a:rPr>
              <a:t>O QR code conecta o Expo Go ao servidor de desenvolvimento.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DE7ABC7-3CFF-8BA9-1008-13B4E68281E0}"/>
              </a:ext>
            </a:extLst>
          </p:cNvPr>
          <p:cNvSpPr txBox="1"/>
          <p:nvPr/>
        </p:nvSpPr>
        <p:spPr>
          <a:xfrm>
            <a:off x="11379200" y="533400"/>
            <a:ext cx="508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100">
                <a:solidFill>
                  <a:srgbClr val="A5B3C9"/>
                </a:solidFill>
                <a:latin typeface="Aptos" panose="020B0004020202020204" pitchFamily="34" charset="0"/>
              </a:rPr>
              <a:t>05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40C3F31-5072-510F-B44E-6843266D44F2}"/>
              </a:ext>
            </a:extLst>
          </p:cNvPr>
          <p:cNvSpPr txBox="1"/>
          <p:nvPr/>
        </p:nvSpPr>
        <p:spPr>
          <a:xfrm>
            <a:off x="838200" y="6553200"/>
            <a:ext cx="508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00">
                <a:solidFill>
                  <a:srgbClr val="A5B3C9"/>
                </a:solidFill>
                <a:latin typeface="Aptos" panose="020B0004020202020204" pitchFamily="34" charset="0"/>
              </a:rPr>
              <a:t>ListaTarefas  •  Aula 2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9D59208-6A89-67D9-20E2-B8F32E93E32A}"/>
              </a:ext>
            </a:extLst>
          </p:cNvPr>
          <p:cNvSpPr txBox="1"/>
          <p:nvPr/>
        </p:nvSpPr>
        <p:spPr>
          <a:xfrm>
            <a:off x="965200" y="2082800"/>
            <a:ext cx="393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400" b="1">
                <a:solidFill>
                  <a:srgbClr val="2FC6F4"/>
                </a:solidFill>
                <a:latin typeface="Aptos" panose="020B0004020202020204" pitchFamily="34" charset="0"/>
              </a:rPr>
              <a:t>1  Inicie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B546B3B-2422-A0B4-9593-0DAC1B4ECFB6}"/>
              </a:ext>
            </a:extLst>
          </p:cNvPr>
          <p:cNvSpPr txBox="1"/>
          <p:nvPr/>
        </p:nvSpPr>
        <p:spPr>
          <a:xfrm>
            <a:off x="4953000" y="2108200"/>
            <a:ext cx="6350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000">
                <a:solidFill>
                  <a:srgbClr val="F7F9FC"/>
                </a:solidFill>
                <a:latin typeface="Aptos" panose="020B0004020202020204" pitchFamily="34" charset="0"/>
              </a:rPr>
              <a:t>Execute npx expo start no terminal do VS Code.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54D341B-F624-7729-650E-A686D7C1F5D6}"/>
              </a:ext>
            </a:extLst>
          </p:cNvPr>
          <p:cNvSpPr txBox="1"/>
          <p:nvPr/>
        </p:nvSpPr>
        <p:spPr>
          <a:xfrm>
            <a:off x="965200" y="3124200"/>
            <a:ext cx="393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400" b="1">
                <a:solidFill>
                  <a:srgbClr val="2BD3A4"/>
                </a:solidFill>
                <a:latin typeface="Aptos" panose="020B0004020202020204" pitchFamily="34" charset="0"/>
              </a:rPr>
              <a:t>2  Conecte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D0B20A9-1C8C-BC54-D979-BCEE063BA5B7}"/>
              </a:ext>
            </a:extLst>
          </p:cNvPr>
          <p:cNvSpPr txBox="1"/>
          <p:nvPr/>
        </p:nvSpPr>
        <p:spPr>
          <a:xfrm>
            <a:off x="4953000" y="3149600"/>
            <a:ext cx="6350000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000">
                <a:solidFill>
                  <a:srgbClr val="F7F9FC"/>
                </a:solidFill>
                <a:latin typeface="Aptos" panose="020B0004020202020204" pitchFamily="34" charset="0"/>
              </a:rPr>
              <a:t>Celular e computador na mesma rede. Leia o QR no Expo Go compatível.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76C2EAB-FE8A-BE71-C02B-B6DFFB8852B7}"/>
              </a:ext>
            </a:extLst>
          </p:cNvPr>
          <p:cNvSpPr txBox="1"/>
          <p:nvPr/>
        </p:nvSpPr>
        <p:spPr>
          <a:xfrm>
            <a:off x="965200" y="4445000"/>
            <a:ext cx="393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400" b="1">
                <a:solidFill>
                  <a:srgbClr val="FFC652"/>
                </a:solidFill>
                <a:latin typeface="Aptos" panose="020B0004020202020204" pitchFamily="34" charset="0"/>
              </a:rPr>
              <a:t>3  Teste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B6D4468-2F5C-B38D-44EE-8C315D40BF94}"/>
              </a:ext>
            </a:extLst>
          </p:cNvPr>
          <p:cNvSpPr txBox="1"/>
          <p:nvPr/>
        </p:nvSpPr>
        <p:spPr>
          <a:xfrm>
            <a:off x="4953000" y="4470400"/>
            <a:ext cx="6350000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000">
                <a:solidFill>
                  <a:srgbClr val="F7F9FC"/>
                </a:solidFill>
                <a:latin typeface="Aptos" panose="020B0004020202020204" pitchFamily="34" charset="0"/>
              </a:rPr>
              <a:t>Se falhar, confira a versão do Expo Go e tente o modo tunnel.</a:t>
            </a:r>
          </a:p>
        </p:txBody>
      </p:sp>
    </p:spTree>
    <p:extLst>
      <p:ext uri="{BB962C8B-B14F-4D97-AF65-F5344CB8AC3E}">
        <p14:creationId xmlns:p14="http://schemas.microsoft.com/office/powerpoint/2010/main" val="3268830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FF579E2E-390D-446C-7AA9-F241E53561A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F05C8D7-1E48-A668-248F-65867B4CC5F6}"/>
              </a:ext>
            </a:extLst>
          </p:cNvPr>
          <p:cNvSpPr txBox="1"/>
          <p:nvPr/>
        </p:nvSpPr>
        <p:spPr>
          <a:xfrm>
            <a:off x="812800" y="457200"/>
            <a:ext cx="10414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3100" b="1">
                <a:solidFill>
                  <a:srgbClr val="F7F9FC"/>
                </a:solidFill>
                <a:latin typeface="Aptos" panose="020B0004020202020204" pitchFamily="34" charset="0"/>
              </a:rPr>
              <a:t>A primeira tela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8A494E5-16E0-65D3-9CE5-63CD410CF1F3}"/>
              </a:ext>
            </a:extLst>
          </p:cNvPr>
          <p:cNvSpPr txBox="1"/>
          <p:nvPr/>
        </p:nvSpPr>
        <p:spPr>
          <a:xfrm>
            <a:off x="838200" y="1219200"/>
            <a:ext cx="10541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>
                <a:solidFill>
                  <a:srgbClr val="A5B3C9"/>
                </a:solidFill>
                <a:latin typeface="Aptos" panose="020B0004020202020204" pitchFamily="34" charset="0"/>
              </a:rPr>
              <a:t>View organiza; Text mostra informações; TextInput recebe o texto.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12B9A64-C98B-EEDB-B083-7AF47F971B14}"/>
              </a:ext>
            </a:extLst>
          </p:cNvPr>
          <p:cNvSpPr txBox="1"/>
          <p:nvPr/>
        </p:nvSpPr>
        <p:spPr>
          <a:xfrm>
            <a:off x="11379200" y="533400"/>
            <a:ext cx="508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100">
                <a:solidFill>
                  <a:srgbClr val="A5B3C9"/>
                </a:solidFill>
                <a:latin typeface="Aptos" panose="020B0004020202020204" pitchFamily="34" charset="0"/>
              </a:rPr>
              <a:t>06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9516297-5C38-2416-5341-22C383A840E8}"/>
              </a:ext>
            </a:extLst>
          </p:cNvPr>
          <p:cNvSpPr txBox="1"/>
          <p:nvPr/>
        </p:nvSpPr>
        <p:spPr>
          <a:xfrm>
            <a:off x="838200" y="6553200"/>
            <a:ext cx="508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00">
                <a:solidFill>
                  <a:srgbClr val="A5B3C9"/>
                </a:solidFill>
                <a:latin typeface="Aptos" panose="020B0004020202020204" pitchFamily="34" charset="0"/>
              </a:rPr>
              <a:t>ListaTarefas  •  Aula 2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80CC2E48-B3ED-1F21-5F2B-C4769BD12BE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9061" y="1930400"/>
            <a:ext cx="8293877" cy="3810000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46425589-9246-4B1B-0297-E71F8BDC2780}"/>
              </a:ext>
            </a:extLst>
          </p:cNvPr>
          <p:cNvSpPr txBox="1"/>
          <p:nvPr/>
        </p:nvSpPr>
        <p:spPr>
          <a:xfrm>
            <a:off x="914400" y="6057900"/>
            <a:ext cx="102616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700">
                <a:solidFill>
                  <a:srgbClr val="2FC6F4"/>
                </a:solidFill>
                <a:latin typeface="Aptos" panose="020B0004020202020204" pitchFamily="34" charset="0"/>
              </a:rPr>
              <a:t>No VS Code: entrada de texto e botão de adicionar.</a:t>
            </a:r>
          </a:p>
        </p:txBody>
      </p:sp>
    </p:spTree>
    <p:extLst>
      <p:ext uri="{BB962C8B-B14F-4D97-AF65-F5344CB8AC3E}">
        <p14:creationId xmlns:p14="http://schemas.microsoft.com/office/powerpoint/2010/main" val="2728370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F1293C2C-E472-A8BF-E022-3BBFB04FF87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E81F7BC-620A-F68F-6563-4596BCE2388D}"/>
              </a:ext>
            </a:extLst>
          </p:cNvPr>
          <p:cNvSpPr txBox="1"/>
          <p:nvPr/>
        </p:nvSpPr>
        <p:spPr>
          <a:xfrm>
            <a:off x="812800" y="457200"/>
            <a:ext cx="10414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3100" b="1">
                <a:solidFill>
                  <a:srgbClr val="F7F9FC"/>
                </a:solidFill>
                <a:latin typeface="Aptos" panose="020B0004020202020204" pitchFamily="34" charset="0"/>
              </a:rPr>
              <a:t>Estado e eventos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8B4E89B-BA28-27A4-BAFD-8FBE62E031D1}"/>
              </a:ext>
            </a:extLst>
          </p:cNvPr>
          <p:cNvSpPr txBox="1"/>
          <p:nvPr/>
        </p:nvSpPr>
        <p:spPr>
          <a:xfrm>
            <a:off x="838200" y="1219200"/>
            <a:ext cx="10541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>
                <a:solidFill>
                  <a:srgbClr val="A5B3C9"/>
                </a:solidFill>
                <a:latin typeface="Aptos" panose="020B0004020202020204" pitchFamily="34" charset="0"/>
              </a:rPr>
              <a:t>O React redesenha a tela quando o estado muda.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18E09D4-1A54-1778-D208-E57D5F4634BE}"/>
              </a:ext>
            </a:extLst>
          </p:cNvPr>
          <p:cNvSpPr txBox="1"/>
          <p:nvPr/>
        </p:nvSpPr>
        <p:spPr>
          <a:xfrm>
            <a:off x="11379200" y="533400"/>
            <a:ext cx="508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100">
                <a:solidFill>
                  <a:srgbClr val="A5B3C9"/>
                </a:solidFill>
                <a:latin typeface="Aptos" panose="020B0004020202020204" pitchFamily="34" charset="0"/>
              </a:rPr>
              <a:t>07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F819776-3809-1AD7-EC70-D462EF83DB7F}"/>
              </a:ext>
            </a:extLst>
          </p:cNvPr>
          <p:cNvSpPr txBox="1"/>
          <p:nvPr/>
        </p:nvSpPr>
        <p:spPr>
          <a:xfrm>
            <a:off x="838200" y="6553200"/>
            <a:ext cx="508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00">
                <a:solidFill>
                  <a:srgbClr val="A5B3C9"/>
                </a:solidFill>
                <a:latin typeface="Aptos" panose="020B0004020202020204" pitchFamily="34" charset="0"/>
              </a:rPr>
              <a:t>ListaTarefas  •  Aula 2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4C83278-E137-4D97-C258-3DFDD1EAF183}"/>
              </a:ext>
            </a:extLst>
          </p:cNvPr>
          <p:cNvSpPr txBox="1"/>
          <p:nvPr/>
        </p:nvSpPr>
        <p:spPr>
          <a:xfrm>
            <a:off x="965200" y="2133600"/>
            <a:ext cx="393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400" b="1">
                <a:solidFill>
                  <a:srgbClr val="2FC6F4"/>
                </a:solidFill>
                <a:latin typeface="Aptos" panose="020B0004020202020204" pitchFamily="34" charset="0"/>
              </a:rPr>
              <a:t>useState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A302276-4623-144B-DDD4-933FC1CB8F64}"/>
              </a:ext>
            </a:extLst>
          </p:cNvPr>
          <p:cNvSpPr txBox="1"/>
          <p:nvPr/>
        </p:nvSpPr>
        <p:spPr>
          <a:xfrm>
            <a:off x="4953000" y="2159000"/>
            <a:ext cx="6350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000">
                <a:solidFill>
                  <a:srgbClr val="F7F9FC"/>
                </a:solidFill>
                <a:latin typeface="Aptos" panose="020B0004020202020204" pitchFamily="34" charset="0"/>
              </a:rPr>
              <a:t>Guarda o texto digitado e a lista exibida.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61B5EB6-5914-FC17-CD1B-CE3E7C7D2C56}"/>
              </a:ext>
            </a:extLst>
          </p:cNvPr>
          <p:cNvSpPr txBox="1"/>
          <p:nvPr/>
        </p:nvSpPr>
        <p:spPr>
          <a:xfrm>
            <a:off x="965200" y="3200400"/>
            <a:ext cx="393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400" b="1">
                <a:solidFill>
                  <a:srgbClr val="2BD3A4"/>
                </a:solidFill>
                <a:latin typeface="Aptos" panose="020B0004020202020204" pitchFamily="34" charset="0"/>
              </a:rPr>
              <a:t>onChangeText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AA722A0-6733-268D-1E97-454781EACFF3}"/>
              </a:ext>
            </a:extLst>
          </p:cNvPr>
          <p:cNvSpPr txBox="1"/>
          <p:nvPr/>
        </p:nvSpPr>
        <p:spPr>
          <a:xfrm>
            <a:off x="4953000" y="3225800"/>
            <a:ext cx="6350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000">
                <a:solidFill>
                  <a:srgbClr val="F7F9FC"/>
                </a:solidFill>
                <a:latin typeface="Aptos" panose="020B0004020202020204" pitchFamily="34" charset="0"/>
              </a:rPr>
              <a:t>Atualiza o texto enquanto o usuário digita.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D6B88C0-E06F-641D-2A5B-02F262CFB5A2}"/>
              </a:ext>
            </a:extLst>
          </p:cNvPr>
          <p:cNvSpPr txBox="1"/>
          <p:nvPr/>
        </p:nvSpPr>
        <p:spPr>
          <a:xfrm>
            <a:off x="965200" y="4267200"/>
            <a:ext cx="393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400" b="1">
                <a:solidFill>
                  <a:srgbClr val="FFC652"/>
                </a:solidFill>
                <a:latin typeface="Aptos" panose="020B0004020202020204" pitchFamily="34" charset="0"/>
              </a:rPr>
              <a:t>onPress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80201D0-56BD-7814-D17F-90CB2B2E995A}"/>
              </a:ext>
            </a:extLst>
          </p:cNvPr>
          <p:cNvSpPr txBox="1"/>
          <p:nvPr/>
        </p:nvSpPr>
        <p:spPr>
          <a:xfrm>
            <a:off x="4953000" y="4292600"/>
            <a:ext cx="6350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000">
                <a:solidFill>
                  <a:srgbClr val="F7F9FC"/>
                </a:solidFill>
                <a:latin typeface="Aptos" panose="020B0004020202020204" pitchFamily="34" charset="0"/>
              </a:rPr>
              <a:t>Chama a função ao tocar no botão.</a:t>
            </a:r>
          </a:p>
        </p:txBody>
      </p:sp>
    </p:spTree>
    <p:extLst>
      <p:ext uri="{BB962C8B-B14F-4D97-AF65-F5344CB8AC3E}">
        <p14:creationId xmlns:p14="http://schemas.microsoft.com/office/powerpoint/2010/main" val="1695860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6BB90C3-603D-8165-B88E-8185005A09D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4666DEE-C5DB-764C-49DA-763EE1E74CA9}"/>
              </a:ext>
            </a:extLst>
          </p:cNvPr>
          <p:cNvSpPr txBox="1"/>
          <p:nvPr/>
        </p:nvSpPr>
        <p:spPr>
          <a:xfrm>
            <a:off x="812800" y="457200"/>
            <a:ext cx="10414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3100" b="1">
                <a:solidFill>
                  <a:srgbClr val="F7F9FC"/>
                </a:solidFill>
                <a:latin typeface="Aptos" panose="020B0004020202020204" pitchFamily="34" charset="0"/>
              </a:rPr>
              <a:t>Componente de tarefa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8CFB07A-5058-94DD-1D1E-B58099DCC51B}"/>
              </a:ext>
            </a:extLst>
          </p:cNvPr>
          <p:cNvSpPr txBox="1"/>
          <p:nvPr/>
        </p:nvSpPr>
        <p:spPr>
          <a:xfrm>
            <a:off x="838200" y="1219200"/>
            <a:ext cx="10541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>
                <a:solidFill>
                  <a:srgbClr val="A5B3C9"/>
                </a:solidFill>
                <a:latin typeface="Aptos" panose="020B0004020202020204" pitchFamily="34" charset="0"/>
              </a:rPr>
              <a:t>Um item recebe a tarefa e as ações por props.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E19D877-70B9-0954-BADC-D6358A0370E5}"/>
              </a:ext>
            </a:extLst>
          </p:cNvPr>
          <p:cNvSpPr txBox="1"/>
          <p:nvPr/>
        </p:nvSpPr>
        <p:spPr>
          <a:xfrm>
            <a:off x="11379200" y="533400"/>
            <a:ext cx="508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100">
                <a:solidFill>
                  <a:srgbClr val="A5B3C9"/>
                </a:solidFill>
                <a:latin typeface="Aptos" panose="020B0004020202020204" pitchFamily="34" charset="0"/>
              </a:rPr>
              <a:t>08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53EEE6E-EE84-EA15-E35E-94FF0366D6A4}"/>
              </a:ext>
            </a:extLst>
          </p:cNvPr>
          <p:cNvSpPr txBox="1"/>
          <p:nvPr/>
        </p:nvSpPr>
        <p:spPr>
          <a:xfrm>
            <a:off x="838200" y="6553200"/>
            <a:ext cx="508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00">
                <a:solidFill>
                  <a:srgbClr val="A5B3C9"/>
                </a:solidFill>
                <a:latin typeface="Aptos" panose="020B0004020202020204" pitchFamily="34" charset="0"/>
              </a:rPr>
              <a:t>ListaTarefas  •  Aula 2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E84DFF5C-5541-B3C6-9437-4ED74F08F8E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0029" y="1968500"/>
            <a:ext cx="5987143" cy="3810000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2CFC684B-9C94-5F1F-89DB-2D24E58C28D5}"/>
              </a:ext>
            </a:extLst>
          </p:cNvPr>
          <p:cNvSpPr txBox="1"/>
          <p:nvPr/>
        </p:nvSpPr>
        <p:spPr>
          <a:xfrm>
            <a:off x="889000" y="5918200"/>
            <a:ext cx="10287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900">
                <a:solidFill>
                  <a:srgbClr val="2FC6F4"/>
                </a:solidFill>
                <a:latin typeface="Aptos" panose="020B0004020202020204" pitchFamily="34" charset="0"/>
              </a:rPr>
              <a:t>TaskItem mostra o título e permite concluir ou excluir.</a:t>
            </a:r>
          </a:p>
        </p:txBody>
      </p:sp>
    </p:spTree>
    <p:extLst>
      <p:ext uri="{BB962C8B-B14F-4D97-AF65-F5344CB8AC3E}">
        <p14:creationId xmlns:p14="http://schemas.microsoft.com/office/powerpoint/2010/main" val="34263291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FA3552D-64E9-A49D-F594-91044D73770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8CE0159-E31F-DF9F-F80D-1909D31A7E45}"/>
              </a:ext>
            </a:extLst>
          </p:cNvPr>
          <p:cNvSpPr txBox="1"/>
          <p:nvPr/>
        </p:nvSpPr>
        <p:spPr>
          <a:xfrm>
            <a:off x="812800" y="457200"/>
            <a:ext cx="10414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3100" b="1">
                <a:solidFill>
                  <a:srgbClr val="F7F9FC"/>
                </a:solidFill>
                <a:latin typeface="Aptos" panose="020B0004020202020204" pitchFamily="34" charset="0"/>
              </a:rPr>
              <a:t>Estado ou persistência?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FFE0CAF-EAA5-BD04-A56F-BDF3D21057BF}"/>
              </a:ext>
            </a:extLst>
          </p:cNvPr>
          <p:cNvSpPr txBox="1"/>
          <p:nvPr/>
        </p:nvSpPr>
        <p:spPr>
          <a:xfrm>
            <a:off x="838200" y="1219200"/>
            <a:ext cx="10541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>
                <a:solidFill>
                  <a:srgbClr val="A5B3C9"/>
                </a:solidFill>
                <a:latin typeface="Aptos" panose="020B0004020202020204" pitchFamily="34" charset="0"/>
              </a:rPr>
              <a:t>As duas informações têm papéis diferentes.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D40266D-28CE-99DD-B180-F2DDFDFD67F5}"/>
              </a:ext>
            </a:extLst>
          </p:cNvPr>
          <p:cNvSpPr txBox="1"/>
          <p:nvPr/>
        </p:nvSpPr>
        <p:spPr>
          <a:xfrm>
            <a:off x="11379200" y="533400"/>
            <a:ext cx="508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100">
                <a:solidFill>
                  <a:srgbClr val="A5B3C9"/>
                </a:solidFill>
                <a:latin typeface="Aptos" panose="020B0004020202020204" pitchFamily="34" charset="0"/>
              </a:rPr>
              <a:t>09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5188556-CF26-26B5-B570-E9559C12EF6A}"/>
              </a:ext>
            </a:extLst>
          </p:cNvPr>
          <p:cNvSpPr txBox="1"/>
          <p:nvPr/>
        </p:nvSpPr>
        <p:spPr>
          <a:xfrm>
            <a:off x="838200" y="6553200"/>
            <a:ext cx="508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00">
                <a:solidFill>
                  <a:srgbClr val="A5B3C9"/>
                </a:solidFill>
                <a:latin typeface="Aptos" panose="020B0004020202020204" pitchFamily="34" charset="0"/>
              </a:rPr>
              <a:t>ListaTarefas  •  Aula 2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0AA6FF5-4DFB-8E40-1733-B290ED597037}"/>
              </a:ext>
            </a:extLst>
          </p:cNvPr>
          <p:cNvSpPr txBox="1"/>
          <p:nvPr/>
        </p:nvSpPr>
        <p:spPr>
          <a:xfrm>
            <a:off x="952500" y="2362200"/>
            <a:ext cx="4572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3200" b="1">
                <a:solidFill>
                  <a:srgbClr val="2FC6F4"/>
                </a:solidFill>
                <a:latin typeface="Aptos" panose="020B0004020202020204" pitchFamily="34" charset="0"/>
              </a:rPr>
              <a:t>Estado local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4880CCC-53A2-FF67-A314-A6AB22F764A9}"/>
              </a:ext>
            </a:extLst>
          </p:cNvPr>
          <p:cNvSpPr txBox="1"/>
          <p:nvPr/>
        </p:nvSpPr>
        <p:spPr>
          <a:xfrm>
            <a:off x="952500" y="3200400"/>
            <a:ext cx="4508500" cy="7078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300">
                <a:solidFill>
                  <a:srgbClr val="F7F9FC"/>
                </a:solidFill>
                <a:latin typeface="Aptos" panose="020B0004020202020204" pitchFamily="34" charset="0"/>
              </a:rPr>
              <a:t>Texto sendo digitado.
Muda enquanto a tela está aberta.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1F7A04C-2BDB-D016-BB65-A1F92980C7B5}"/>
              </a:ext>
            </a:extLst>
          </p:cNvPr>
          <p:cNvSpPr txBox="1"/>
          <p:nvPr/>
        </p:nvSpPr>
        <p:spPr>
          <a:xfrm>
            <a:off x="6604000" y="2362200"/>
            <a:ext cx="4572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3200" b="1">
                <a:solidFill>
                  <a:srgbClr val="2BD3A4"/>
                </a:solidFill>
                <a:latin typeface="Aptos" panose="020B0004020202020204" pitchFamily="34" charset="0"/>
              </a:rPr>
              <a:t>Firestore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C27AF90-B722-2A48-20C6-DF229E1BA5A4}"/>
              </a:ext>
            </a:extLst>
          </p:cNvPr>
          <p:cNvSpPr txBox="1"/>
          <p:nvPr/>
        </p:nvSpPr>
        <p:spPr>
          <a:xfrm>
            <a:off x="6604000" y="3200400"/>
            <a:ext cx="4508500" cy="106182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300">
                <a:solidFill>
                  <a:srgbClr val="F7F9FC"/>
                </a:solidFill>
                <a:latin typeface="Aptos" panose="020B0004020202020204" pitchFamily="34" charset="0"/>
              </a:rPr>
              <a:t>Tarefas salvas.
Continuam disponíveis após fechar o app.</a:t>
            </a:r>
          </a:p>
        </p:txBody>
      </p:sp>
    </p:spTree>
    <p:extLst>
      <p:ext uri="{BB962C8B-B14F-4D97-AF65-F5344CB8AC3E}">
        <p14:creationId xmlns:p14="http://schemas.microsoft.com/office/powerpoint/2010/main" val="2240060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5929072-F6D4-62F2-4101-B33964314A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2A04F6D-F48E-9BAD-7F29-11C010CAB296}"/>
              </a:ext>
            </a:extLst>
          </p:cNvPr>
          <p:cNvSpPr txBox="1"/>
          <p:nvPr/>
        </p:nvSpPr>
        <p:spPr>
          <a:xfrm>
            <a:off x="812800" y="457200"/>
            <a:ext cx="10414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3100" b="1">
                <a:solidFill>
                  <a:srgbClr val="F7F9FC"/>
                </a:solidFill>
                <a:latin typeface="Aptos" panose="020B0004020202020204" pitchFamily="34" charset="0"/>
              </a:rPr>
              <a:t>Conexão com o Firebase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38252F0-7E49-0133-C7BA-127BE00CB809}"/>
              </a:ext>
            </a:extLst>
          </p:cNvPr>
          <p:cNvSpPr txBox="1"/>
          <p:nvPr/>
        </p:nvSpPr>
        <p:spPr>
          <a:xfrm>
            <a:off x="838200" y="1219200"/>
            <a:ext cx="10541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>
                <a:solidFill>
                  <a:srgbClr val="A5B3C9"/>
                </a:solidFill>
                <a:latin typeface="Aptos" panose="020B0004020202020204" pitchFamily="34" charset="0"/>
              </a:rPr>
              <a:t>A configuração fica separada da interface.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0CA06AF-F305-9D04-9C7B-70B363EA9429}"/>
              </a:ext>
            </a:extLst>
          </p:cNvPr>
          <p:cNvSpPr txBox="1"/>
          <p:nvPr/>
        </p:nvSpPr>
        <p:spPr>
          <a:xfrm>
            <a:off x="11379200" y="533400"/>
            <a:ext cx="508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100">
                <a:solidFill>
                  <a:srgbClr val="A5B3C9"/>
                </a:solidFill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48FD8E0-8DC9-365F-AB3A-17143CDF5F33}"/>
              </a:ext>
            </a:extLst>
          </p:cNvPr>
          <p:cNvSpPr txBox="1"/>
          <p:nvPr/>
        </p:nvSpPr>
        <p:spPr>
          <a:xfrm>
            <a:off x="838200" y="6553200"/>
            <a:ext cx="508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00">
                <a:solidFill>
                  <a:srgbClr val="A5B3C9"/>
                </a:solidFill>
                <a:latin typeface="Aptos" panose="020B0004020202020204" pitchFamily="34" charset="0"/>
              </a:rPr>
              <a:t>ListaTarefas  •  Aula 2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FDD6052F-95DA-A9CE-09D4-1815CF25DB8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424" y="2032000"/>
            <a:ext cx="7464552" cy="4013200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2C52AC90-BCC0-5144-68D1-1887CC71C979}"/>
              </a:ext>
            </a:extLst>
          </p:cNvPr>
          <p:cNvSpPr txBox="1"/>
          <p:nvPr/>
        </p:nvSpPr>
        <p:spPr>
          <a:xfrm>
            <a:off x="8686800" y="2362200"/>
            <a:ext cx="3048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300" b="1">
                <a:solidFill>
                  <a:srgbClr val="2FC6F4"/>
                </a:solidFill>
                <a:latin typeface="Aptos" panose="020B0004020202020204" pitchFamily="34" charset="0"/>
              </a:rPr>
              <a:t>initializeApp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A89B3B4-ACFC-C738-9ED5-141A0BBE1DC5}"/>
              </a:ext>
            </a:extLst>
          </p:cNvPr>
          <p:cNvSpPr txBox="1"/>
          <p:nvPr/>
        </p:nvSpPr>
        <p:spPr>
          <a:xfrm>
            <a:off x="8686800" y="2895600"/>
            <a:ext cx="3048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900">
                <a:solidFill>
                  <a:srgbClr val="F7F9FC"/>
                </a:solidFill>
                <a:latin typeface="Aptos" panose="020B0004020202020204" pitchFamily="34" charset="0"/>
              </a:rPr>
              <a:t>inicia o projeto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35E5EEBB-2A5E-A47B-219A-3A9E4B17B52C}"/>
              </a:ext>
            </a:extLst>
          </p:cNvPr>
          <p:cNvSpPr txBox="1"/>
          <p:nvPr/>
        </p:nvSpPr>
        <p:spPr>
          <a:xfrm>
            <a:off x="8686800" y="3911600"/>
            <a:ext cx="3048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300" b="1">
                <a:solidFill>
                  <a:srgbClr val="2BD3A4"/>
                </a:solidFill>
                <a:latin typeface="Aptos" panose="020B0004020202020204" pitchFamily="34" charset="0"/>
              </a:rPr>
              <a:t>getFirestore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EA114D6-EF5B-7BAE-DB9E-907F72A486A3}"/>
              </a:ext>
            </a:extLst>
          </p:cNvPr>
          <p:cNvSpPr txBox="1"/>
          <p:nvPr/>
        </p:nvSpPr>
        <p:spPr>
          <a:xfrm>
            <a:off x="8686800" y="4445000"/>
            <a:ext cx="3048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900">
                <a:solidFill>
                  <a:srgbClr val="F7F9FC"/>
                </a:solidFill>
                <a:latin typeface="Aptos" panose="020B0004020202020204" pitchFamily="34" charset="0"/>
              </a:rPr>
              <a:t>abre o banco</a:t>
            </a:r>
          </a:p>
        </p:txBody>
      </p:sp>
    </p:spTree>
    <p:extLst>
      <p:ext uri="{BB962C8B-B14F-4D97-AF65-F5344CB8AC3E}">
        <p14:creationId xmlns:p14="http://schemas.microsoft.com/office/powerpoint/2010/main" val="22497688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C1DEFB3-274C-0C7F-2FAB-6CFA50098A9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8C5AE29-969A-4576-399C-8CB86B1368A3}"/>
              </a:ext>
            </a:extLst>
          </p:cNvPr>
          <p:cNvSpPr txBox="1"/>
          <p:nvPr/>
        </p:nvSpPr>
        <p:spPr>
          <a:xfrm>
            <a:off x="812800" y="457200"/>
            <a:ext cx="10414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3100" b="1">
                <a:solidFill>
                  <a:srgbClr val="F7F9FC"/>
                </a:solidFill>
                <a:latin typeface="Aptos" panose="020B0004020202020204" pitchFamily="34" charset="0"/>
              </a:rPr>
              <a:t>Como os dados são guardados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3F3E4CD-7E2C-4B26-1338-D7C2624531B1}"/>
              </a:ext>
            </a:extLst>
          </p:cNvPr>
          <p:cNvSpPr txBox="1"/>
          <p:nvPr/>
        </p:nvSpPr>
        <p:spPr>
          <a:xfrm>
            <a:off x="838200" y="1219200"/>
            <a:ext cx="10541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>
                <a:solidFill>
                  <a:srgbClr val="A5B3C9"/>
                </a:solidFill>
                <a:latin typeface="Aptos" panose="020B0004020202020204" pitchFamily="34" charset="0"/>
              </a:rPr>
              <a:t>No Firestore, cada tarefa é um documento.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90AB39B-0F5F-2036-385C-B7CFAEF88CD5}"/>
              </a:ext>
            </a:extLst>
          </p:cNvPr>
          <p:cNvSpPr txBox="1"/>
          <p:nvPr/>
        </p:nvSpPr>
        <p:spPr>
          <a:xfrm>
            <a:off x="11379200" y="533400"/>
            <a:ext cx="508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100">
                <a:solidFill>
                  <a:srgbClr val="A5B3C9"/>
                </a:solidFill>
                <a:latin typeface="Aptos" panose="020B0004020202020204" pitchFamily="34" charset="0"/>
              </a:rPr>
              <a:t>11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C59EF81-CF42-76A3-86BA-FD41F8CBA834}"/>
              </a:ext>
            </a:extLst>
          </p:cNvPr>
          <p:cNvSpPr txBox="1"/>
          <p:nvPr/>
        </p:nvSpPr>
        <p:spPr>
          <a:xfrm>
            <a:off x="838200" y="6553200"/>
            <a:ext cx="508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00">
                <a:solidFill>
                  <a:srgbClr val="A5B3C9"/>
                </a:solidFill>
                <a:latin typeface="Aptos" panose="020B0004020202020204" pitchFamily="34" charset="0"/>
              </a:rPr>
              <a:t>ListaTarefas  •  Aula 2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E25CDF1-8123-350B-7F0A-3E6A3C10DF48}"/>
              </a:ext>
            </a:extLst>
          </p:cNvPr>
          <p:cNvSpPr txBox="1"/>
          <p:nvPr/>
        </p:nvSpPr>
        <p:spPr>
          <a:xfrm>
            <a:off x="965200" y="2133600"/>
            <a:ext cx="393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400" b="1">
                <a:solidFill>
                  <a:srgbClr val="2FC6F4"/>
                </a:solidFill>
                <a:latin typeface="Aptos" panose="020B0004020202020204" pitchFamily="34" charset="0"/>
              </a:rPr>
              <a:t>Coleção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7207225-6CA7-BC7F-D79D-D08D0453B0D5}"/>
              </a:ext>
            </a:extLst>
          </p:cNvPr>
          <p:cNvSpPr txBox="1"/>
          <p:nvPr/>
        </p:nvSpPr>
        <p:spPr>
          <a:xfrm>
            <a:off x="4953000" y="2159000"/>
            <a:ext cx="6350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000">
                <a:solidFill>
                  <a:srgbClr val="F7F9FC"/>
                </a:solidFill>
                <a:latin typeface="Aptos" panose="020B0004020202020204" pitchFamily="34" charset="0"/>
              </a:rPr>
              <a:t>tarefas: reúne os documentos do aplicativo.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A7D69EF-1AC7-57F8-6DE8-B089E356D6E6}"/>
              </a:ext>
            </a:extLst>
          </p:cNvPr>
          <p:cNvSpPr txBox="1"/>
          <p:nvPr/>
        </p:nvSpPr>
        <p:spPr>
          <a:xfrm>
            <a:off x="965200" y="3200400"/>
            <a:ext cx="393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400" b="1">
                <a:solidFill>
                  <a:srgbClr val="2BD3A4"/>
                </a:solidFill>
                <a:latin typeface="Aptos" panose="020B0004020202020204" pitchFamily="34" charset="0"/>
              </a:rPr>
              <a:t>Documento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C74F059-833F-F246-0EE2-DF628A6B20CF}"/>
              </a:ext>
            </a:extLst>
          </p:cNvPr>
          <p:cNvSpPr txBox="1"/>
          <p:nvPr/>
        </p:nvSpPr>
        <p:spPr>
          <a:xfrm>
            <a:off x="4953000" y="3225800"/>
            <a:ext cx="6350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000">
                <a:solidFill>
                  <a:srgbClr val="F7F9FC"/>
                </a:solidFill>
                <a:latin typeface="Aptos" panose="020B0004020202020204" pitchFamily="34" charset="0"/>
              </a:rPr>
              <a:t>Um registro com ID próprio.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FDBE4836-6A66-7ABE-745F-905C868A4223}"/>
              </a:ext>
            </a:extLst>
          </p:cNvPr>
          <p:cNvSpPr txBox="1"/>
          <p:nvPr/>
        </p:nvSpPr>
        <p:spPr>
          <a:xfrm>
            <a:off x="965200" y="4267200"/>
            <a:ext cx="393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400" b="1">
                <a:solidFill>
                  <a:srgbClr val="FFC652"/>
                </a:solidFill>
                <a:latin typeface="Aptos" panose="020B0004020202020204" pitchFamily="34" charset="0"/>
              </a:rPr>
              <a:t>Campos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D9F2727-24A5-7BC1-74EE-F7390E158706}"/>
              </a:ext>
            </a:extLst>
          </p:cNvPr>
          <p:cNvSpPr txBox="1"/>
          <p:nvPr/>
        </p:nvSpPr>
        <p:spPr>
          <a:xfrm>
            <a:off x="4953000" y="4292600"/>
            <a:ext cx="6350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000">
                <a:solidFill>
                  <a:srgbClr val="F7F9FC"/>
                </a:solidFill>
                <a:latin typeface="Aptos" panose="020B0004020202020204" pitchFamily="34" charset="0"/>
              </a:rPr>
              <a:t>titulo, concluida e criadaEm.</a:t>
            </a:r>
          </a:p>
        </p:txBody>
      </p:sp>
    </p:spTree>
    <p:extLst>
      <p:ext uri="{BB962C8B-B14F-4D97-AF65-F5344CB8AC3E}">
        <p14:creationId xmlns:p14="http://schemas.microsoft.com/office/powerpoint/2010/main" val="1185369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8F33C9B8-550F-7ED6-774D-50B2B2626D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F843498-7A9A-3E23-0959-17DF2C991262}"/>
              </a:ext>
            </a:extLst>
          </p:cNvPr>
          <p:cNvSpPr txBox="1"/>
          <p:nvPr/>
        </p:nvSpPr>
        <p:spPr>
          <a:xfrm>
            <a:off x="812800" y="457200"/>
            <a:ext cx="10414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3100" b="1">
                <a:solidFill>
                  <a:srgbClr val="F7F9FC"/>
                </a:solidFill>
                <a:latin typeface="Aptos" panose="020B0004020202020204" pitchFamily="34" charset="0"/>
              </a:rPr>
              <a:t>CREATE  •  adicionar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69C788C-75E8-DF7E-C610-F22B2B07C4A6}"/>
              </a:ext>
            </a:extLst>
          </p:cNvPr>
          <p:cNvSpPr txBox="1"/>
          <p:nvPr/>
        </p:nvSpPr>
        <p:spPr>
          <a:xfrm>
            <a:off x="838200" y="1219200"/>
            <a:ext cx="10541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>
                <a:solidFill>
                  <a:srgbClr val="A5B3C9"/>
                </a:solidFill>
                <a:latin typeface="Aptos" panose="020B0004020202020204" pitchFamily="34" charset="0"/>
              </a:rPr>
              <a:t>Do toque no botão ao documento salvo.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AF9FD90-87D1-1D54-12B3-F691596BA8DA}"/>
              </a:ext>
            </a:extLst>
          </p:cNvPr>
          <p:cNvSpPr txBox="1"/>
          <p:nvPr/>
        </p:nvSpPr>
        <p:spPr>
          <a:xfrm>
            <a:off x="11379200" y="533400"/>
            <a:ext cx="508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100">
                <a:solidFill>
                  <a:srgbClr val="A5B3C9"/>
                </a:solidFill>
                <a:latin typeface="Aptos" panose="020B0004020202020204" pitchFamily="34" charset="0"/>
              </a:rPr>
              <a:t>12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B5EE670-EAE4-DF9B-F081-A272BFBEF7EE}"/>
              </a:ext>
            </a:extLst>
          </p:cNvPr>
          <p:cNvSpPr txBox="1"/>
          <p:nvPr/>
        </p:nvSpPr>
        <p:spPr>
          <a:xfrm>
            <a:off x="838200" y="6553200"/>
            <a:ext cx="508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00">
                <a:solidFill>
                  <a:srgbClr val="A5B3C9"/>
                </a:solidFill>
                <a:latin typeface="Aptos" panose="020B0004020202020204" pitchFamily="34" charset="0"/>
              </a:rPr>
              <a:t>ListaTarefas  •  Aula 2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72E021C-785C-1D75-0C42-47AFE5DE07F6}"/>
              </a:ext>
            </a:extLst>
          </p:cNvPr>
          <p:cNvSpPr txBox="1"/>
          <p:nvPr/>
        </p:nvSpPr>
        <p:spPr>
          <a:xfrm>
            <a:off x="965200" y="2057400"/>
            <a:ext cx="393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400" b="1">
                <a:solidFill>
                  <a:srgbClr val="2FC6F4"/>
                </a:solidFill>
                <a:latin typeface="Aptos" panose="020B0004020202020204" pitchFamily="34" charset="0"/>
              </a:rPr>
              <a:t>Digite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E3CA89A-8207-8AC5-6EF4-18F9E175DA3D}"/>
              </a:ext>
            </a:extLst>
          </p:cNvPr>
          <p:cNvSpPr txBox="1"/>
          <p:nvPr/>
        </p:nvSpPr>
        <p:spPr>
          <a:xfrm>
            <a:off x="4953000" y="2082800"/>
            <a:ext cx="6350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000">
                <a:solidFill>
                  <a:srgbClr val="F7F9FC"/>
                </a:solidFill>
                <a:latin typeface="Aptos" panose="020B0004020202020204" pitchFamily="34" charset="0"/>
              </a:rPr>
              <a:t>O texto vem do TextInput.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FB72ADB-E320-B480-B714-096F6B265299}"/>
              </a:ext>
            </a:extLst>
          </p:cNvPr>
          <p:cNvSpPr txBox="1"/>
          <p:nvPr/>
        </p:nvSpPr>
        <p:spPr>
          <a:xfrm>
            <a:off x="965200" y="3111500"/>
            <a:ext cx="393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400" b="1">
                <a:solidFill>
                  <a:srgbClr val="2BD3A4"/>
                </a:solidFill>
                <a:latin typeface="Aptos" panose="020B0004020202020204" pitchFamily="34" charset="0"/>
              </a:rPr>
              <a:t>Valide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4182D60-EA16-0405-BD4B-DD415BD3E207}"/>
              </a:ext>
            </a:extLst>
          </p:cNvPr>
          <p:cNvSpPr txBox="1"/>
          <p:nvPr/>
        </p:nvSpPr>
        <p:spPr>
          <a:xfrm>
            <a:off x="4953000" y="3136900"/>
            <a:ext cx="6350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000">
                <a:solidFill>
                  <a:srgbClr val="F7F9FC"/>
                </a:solidFill>
                <a:latin typeface="Aptos" panose="020B0004020202020204" pitchFamily="34" charset="0"/>
              </a:rPr>
              <a:t>A função ignora tarefas vazias.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F378C0A-A816-8B3C-7072-E4CC25AF58A6}"/>
              </a:ext>
            </a:extLst>
          </p:cNvPr>
          <p:cNvSpPr txBox="1"/>
          <p:nvPr/>
        </p:nvSpPr>
        <p:spPr>
          <a:xfrm>
            <a:off x="965200" y="4165600"/>
            <a:ext cx="393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400" b="1">
                <a:solidFill>
                  <a:srgbClr val="FFC652"/>
                </a:solidFill>
                <a:latin typeface="Aptos" panose="020B0004020202020204" pitchFamily="34" charset="0"/>
              </a:rPr>
              <a:t>Salve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A4B174F-BF07-AC85-38C3-EB472AD7F37C}"/>
              </a:ext>
            </a:extLst>
          </p:cNvPr>
          <p:cNvSpPr txBox="1"/>
          <p:nvPr/>
        </p:nvSpPr>
        <p:spPr>
          <a:xfrm>
            <a:off x="4953000" y="4191000"/>
            <a:ext cx="6350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000">
                <a:solidFill>
                  <a:srgbClr val="F7F9FC"/>
                </a:solidFill>
                <a:latin typeface="Aptos" panose="020B0004020202020204" pitchFamily="34" charset="0"/>
              </a:rPr>
              <a:t>addDoc cria o documento na coleção tarefas.</a:t>
            </a:r>
          </a:p>
        </p:txBody>
      </p:sp>
    </p:spTree>
    <p:extLst>
      <p:ext uri="{BB962C8B-B14F-4D97-AF65-F5344CB8AC3E}">
        <p14:creationId xmlns:p14="http://schemas.microsoft.com/office/powerpoint/2010/main" val="21760373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DB3CE7AD-6242-9DC6-3D0A-CC415699802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21170F4-AAF2-628E-DD54-40FEC3C78BC7}"/>
              </a:ext>
            </a:extLst>
          </p:cNvPr>
          <p:cNvSpPr txBox="1"/>
          <p:nvPr/>
        </p:nvSpPr>
        <p:spPr>
          <a:xfrm>
            <a:off x="812800" y="457200"/>
            <a:ext cx="10414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3100" b="1">
                <a:solidFill>
                  <a:srgbClr val="F7F9FC"/>
                </a:solidFill>
                <a:latin typeface="Aptos" panose="020B0004020202020204" pitchFamily="34" charset="0"/>
              </a:rPr>
              <a:t>READ  •  carregar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4DA9C1-52ED-96C7-E14C-ECD4B104E06A}"/>
              </a:ext>
            </a:extLst>
          </p:cNvPr>
          <p:cNvSpPr txBox="1"/>
          <p:nvPr/>
        </p:nvSpPr>
        <p:spPr>
          <a:xfrm>
            <a:off x="838200" y="1219200"/>
            <a:ext cx="10541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>
                <a:solidFill>
                  <a:srgbClr val="A5B3C9"/>
                </a:solidFill>
                <a:latin typeface="Aptos" panose="020B0004020202020204" pitchFamily="34" charset="0"/>
              </a:rPr>
              <a:t>A leitura acompanha alterações feitas no Firestore.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CA2B347-3BAC-BA95-00B6-BB09E5127F86}"/>
              </a:ext>
            </a:extLst>
          </p:cNvPr>
          <p:cNvSpPr txBox="1"/>
          <p:nvPr/>
        </p:nvSpPr>
        <p:spPr>
          <a:xfrm>
            <a:off x="11379200" y="533400"/>
            <a:ext cx="508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100">
                <a:solidFill>
                  <a:srgbClr val="A5B3C9"/>
                </a:solidFill>
                <a:latin typeface="Aptos" panose="020B0004020202020204" pitchFamily="34" charset="0"/>
              </a:rPr>
              <a:t>13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CD91E47-52CB-5BFC-8CA2-8B8D855C051D}"/>
              </a:ext>
            </a:extLst>
          </p:cNvPr>
          <p:cNvSpPr txBox="1"/>
          <p:nvPr/>
        </p:nvSpPr>
        <p:spPr>
          <a:xfrm>
            <a:off x="838200" y="6553200"/>
            <a:ext cx="508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00">
                <a:solidFill>
                  <a:srgbClr val="A5B3C9"/>
                </a:solidFill>
                <a:latin typeface="Aptos" panose="020B0004020202020204" pitchFamily="34" charset="0"/>
              </a:rPr>
              <a:t>ListaTarefas  •  Aula 2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EA1CE929-2E20-E7B6-DF3C-5878FA9FB7D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2160" y="1955800"/>
            <a:ext cx="9295279" cy="4000500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F0B40199-EF90-071E-6F9E-1C6956A97A97}"/>
              </a:ext>
            </a:extLst>
          </p:cNvPr>
          <p:cNvSpPr txBox="1"/>
          <p:nvPr/>
        </p:nvSpPr>
        <p:spPr>
          <a:xfrm>
            <a:off x="914400" y="5994400"/>
            <a:ext cx="10363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>
                <a:solidFill>
                  <a:srgbClr val="2FC6F4"/>
                </a:solidFill>
                <a:latin typeface="Aptos" panose="020B0004020202020204" pitchFamily="34" charset="0"/>
              </a:rPr>
              <a:t>useEffect inicia a escuta; onSnapshot atualiza o estado.</a:t>
            </a:r>
          </a:p>
        </p:txBody>
      </p:sp>
    </p:spTree>
    <p:extLst>
      <p:ext uri="{BB962C8B-B14F-4D97-AF65-F5344CB8AC3E}">
        <p14:creationId xmlns:p14="http://schemas.microsoft.com/office/powerpoint/2010/main" val="5185989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B6C8456-C006-5E49-681D-0127CA075E1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D4EC534-FFDC-6966-5102-2616E9A71E53}"/>
              </a:ext>
            </a:extLst>
          </p:cNvPr>
          <p:cNvSpPr txBox="1"/>
          <p:nvPr/>
        </p:nvSpPr>
        <p:spPr>
          <a:xfrm>
            <a:off x="812800" y="457200"/>
            <a:ext cx="10414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3100" b="1">
                <a:solidFill>
                  <a:srgbClr val="F7F9FC"/>
                </a:solidFill>
                <a:latin typeface="Aptos" panose="020B0004020202020204" pitchFamily="34" charset="0"/>
              </a:rPr>
              <a:t>FlatList  •  mostrar tarefas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388A9DF-03A6-4351-6E97-18B119B0D5BC}"/>
              </a:ext>
            </a:extLst>
          </p:cNvPr>
          <p:cNvSpPr txBox="1"/>
          <p:nvPr/>
        </p:nvSpPr>
        <p:spPr>
          <a:xfrm>
            <a:off x="838200" y="1219200"/>
            <a:ext cx="10541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>
                <a:solidFill>
                  <a:srgbClr val="A5B3C9"/>
                </a:solidFill>
                <a:latin typeface="Aptos" panose="020B0004020202020204" pitchFamily="34" charset="0"/>
              </a:rPr>
              <a:t>A lista transforma documentos carregados em itens visuais.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99EDE81-8181-DE39-0F09-0CF457657FB9}"/>
              </a:ext>
            </a:extLst>
          </p:cNvPr>
          <p:cNvSpPr txBox="1"/>
          <p:nvPr/>
        </p:nvSpPr>
        <p:spPr>
          <a:xfrm>
            <a:off x="11379200" y="533400"/>
            <a:ext cx="508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100">
                <a:solidFill>
                  <a:srgbClr val="A5B3C9"/>
                </a:solidFill>
                <a:latin typeface="Aptos" panose="020B0004020202020204" pitchFamily="34" charset="0"/>
              </a:rPr>
              <a:t>14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E67B253-F018-9DBA-AFB4-BFDC2FD770B6}"/>
              </a:ext>
            </a:extLst>
          </p:cNvPr>
          <p:cNvSpPr txBox="1"/>
          <p:nvPr/>
        </p:nvSpPr>
        <p:spPr>
          <a:xfrm>
            <a:off x="838200" y="6553200"/>
            <a:ext cx="508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00">
                <a:solidFill>
                  <a:srgbClr val="A5B3C9"/>
                </a:solidFill>
                <a:latin typeface="Aptos" panose="020B0004020202020204" pitchFamily="34" charset="0"/>
              </a:rPr>
              <a:t>ListaTarefas  •  Aula 2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A08C8F0-1611-9A80-0D66-C9E7B9199246}"/>
              </a:ext>
            </a:extLst>
          </p:cNvPr>
          <p:cNvSpPr txBox="1"/>
          <p:nvPr/>
        </p:nvSpPr>
        <p:spPr>
          <a:xfrm>
            <a:off x="965200" y="2159000"/>
            <a:ext cx="393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400" b="1">
                <a:solidFill>
                  <a:srgbClr val="2FC6F4"/>
                </a:solidFill>
                <a:latin typeface="Aptos" panose="020B0004020202020204" pitchFamily="34" charset="0"/>
              </a:rPr>
              <a:t>data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CA2D565-06BF-6053-0A84-1AF0E977C944}"/>
              </a:ext>
            </a:extLst>
          </p:cNvPr>
          <p:cNvSpPr txBox="1"/>
          <p:nvPr/>
        </p:nvSpPr>
        <p:spPr>
          <a:xfrm>
            <a:off x="4953000" y="2184400"/>
            <a:ext cx="6350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000">
                <a:solidFill>
                  <a:srgbClr val="F7F9FC"/>
                </a:solidFill>
                <a:latin typeface="Aptos" panose="020B0004020202020204" pitchFamily="34" charset="0"/>
              </a:rPr>
              <a:t>Recebe o conjunto de tarefas.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89548BA-FC5F-27BC-A8F9-4CE1B59394A9}"/>
              </a:ext>
            </a:extLst>
          </p:cNvPr>
          <p:cNvSpPr txBox="1"/>
          <p:nvPr/>
        </p:nvSpPr>
        <p:spPr>
          <a:xfrm>
            <a:off x="965200" y="3213100"/>
            <a:ext cx="393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400" b="1">
                <a:solidFill>
                  <a:srgbClr val="2BD3A4"/>
                </a:solidFill>
                <a:latin typeface="Aptos" panose="020B0004020202020204" pitchFamily="34" charset="0"/>
              </a:rPr>
              <a:t>keyExtractor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4C6B825-8C4A-032B-E58E-860C161E9728}"/>
              </a:ext>
            </a:extLst>
          </p:cNvPr>
          <p:cNvSpPr txBox="1"/>
          <p:nvPr/>
        </p:nvSpPr>
        <p:spPr>
          <a:xfrm>
            <a:off x="4953000" y="3238500"/>
            <a:ext cx="6350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000">
                <a:solidFill>
                  <a:srgbClr val="F7F9FC"/>
                </a:solidFill>
                <a:latin typeface="Aptos" panose="020B0004020202020204" pitchFamily="34" charset="0"/>
              </a:rPr>
              <a:t>Usa o ID para identificar cada item.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7D52E36-2B58-83B5-6795-16B5BED35424}"/>
              </a:ext>
            </a:extLst>
          </p:cNvPr>
          <p:cNvSpPr txBox="1"/>
          <p:nvPr/>
        </p:nvSpPr>
        <p:spPr>
          <a:xfrm>
            <a:off x="965200" y="4267200"/>
            <a:ext cx="393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400" b="1">
                <a:solidFill>
                  <a:srgbClr val="FFC652"/>
                </a:solidFill>
                <a:latin typeface="Aptos" panose="020B0004020202020204" pitchFamily="34" charset="0"/>
              </a:rPr>
              <a:t>renderItem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08F280CA-3892-CFE5-CD15-69BA34A53C1B}"/>
              </a:ext>
            </a:extLst>
          </p:cNvPr>
          <p:cNvSpPr txBox="1"/>
          <p:nvPr/>
        </p:nvSpPr>
        <p:spPr>
          <a:xfrm>
            <a:off x="4953000" y="4292600"/>
            <a:ext cx="6350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000">
                <a:solidFill>
                  <a:srgbClr val="F7F9FC"/>
                </a:solidFill>
                <a:latin typeface="Aptos" panose="020B0004020202020204" pitchFamily="34" charset="0"/>
              </a:rPr>
              <a:t>Mostra um TaskItem para cada tarefa.</a:t>
            </a:r>
          </a:p>
        </p:txBody>
      </p:sp>
    </p:spTree>
    <p:extLst>
      <p:ext uri="{BB962C8B-B14F-4D97-AF65-F5344CB8AC3E}">
        <p14:creationId xmlns:p14="http://schemas.microsoft.com/office/powerpoint/2010/main" val="38036485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AE4348C3-8AC0-F47B-8CC0-124C76F4B69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08CF75B-ED73-5A97-4225-6FBEB13213A5}"/>
              </a:ext>
            </a:extLst>
          </p:cNvPr>
          <p:cNvSpPr txBox="1"/>
          <p:nvPr/>
        </p:nvSpPr>
        <p:spPr>
          <a:xfrm>
            <a:off x="812800" y="457200"/>
            <a:ext cx="10414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3100" b="1">
                <a:solidFill>
                  <a:srgbClr val="F7F9FC"/>
                </a:solidFill>
                <a:latin typeface="Aptos" panose="020B0004020202020204" pitchFamily="34" charset="0"/>
              </a:rPr>
              <a:t>UPDATE e DELETE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A4A1EAB-B14E-57B2-8F8B-293E54147860}"/>
              </a:ext>
            </a:extLst>
          </p:cNvPr>
          <p:cNvSpPr txBox="1"/>
          <p:nvPr/>
        </p:nvSpPr>
        <p:spPr>
          <a:xfrm>
            <a:off x="838200" y="1219200"/>
            <a:ext cx="10541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>
                <a:solidFill>
                  <a:srgbClr val="A5B3C9"/>
                </a:solidFill>
                <a:latin typeface="Aptos" panose="020B0004020202020204" pitchFamily="34" charset="0"/>
              </a:rPr>
              <a:t>Duas ações sobre um documento existente.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8FB0AA6-CBA8-5869-63C7-A4109CEC2340}"/>
              </a:ext>
            </a:extLst>
          </p:cNvPr>
          <p:cNvSpPr txBox="1"/>
          <p:nvPr/>
        </p:nvSpPr>
        <p:spPr>
          <a:xfrm>
            <a:off x="11379200" y="533400"/>
            <a:ext cx="508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100">
                <a:solidFill>
                  <a:srgbClr val="A5B3C9"/>
                </a:solidFill>
                <a:latin typeface="Aptos" panose="020B0004020202020204" pitchFamily="34" charset="0"/>
              </a:rPr>
              <a:t>15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0DC3099-12DE-FB7D-61D9-8A06C0162271}"/>
              </a:ext>
            </a:extLst>
          </p:cNvPr>
          <p:cNvSpPr txBox="1"/>
          <p:nvPr/>
        </p:nvSpPr>
        <p:spPr>
          <a:xfrm>
            <a:off x="838200" y="6553200"/>
            <a:ext cx="508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00">
                <a:solidFill>
                  <a:srgbClr val="A5B3C9"/>
                </a:solidFill>
                <a:latin typeface="Aptos" panose="020B0004020202020204" pitchFamily="34" charset="0"/>
              </a:rPr>
              <a:t>ListaTarefas  •  Aula 2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3527567-3F66-165C-E2B9-DF60938BAC87}"/>
              </a:ext>
            </a:extLst>
          </p:cNvPr>
          <p:cNvSpPr txBox="1"/>
          <p:nvPr/>
        </p:nvSpPr>
        <p:spPr>
          <a:xfrm>
            <a:off x="965200" y="2260600"/>
            <a:ext cx="10160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3200" b="1">
                <a:solidFill>
                  <a:srgbClr val="2BD3A4"/>
                </a:solidFill>
                <a:latin typeface="Aptos" panose="020B0004020202020204" pitchFamily="34" charset="0"/>
              </a:rPr>
              <a:t>Concluir / reabrir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2E8FAEF-5C4C-3248-EF7D-E198436EA46A}"/>
              </a:ext>
            </a:extLst>
          </p:cNvPr>
          <p:cNvSpPr txBox="1"/>
          <p:nvPr/>
        </p:nvSpPr>
        <p:spPr>
          <a:xfrm>
            <a:off x="990600" y="2997200"/>
            <a:ext cx="10160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300">
                <a:solidFill>
                  <a:srgbClr val="F7F9FC"/>
                </a:solidFill>
                <a:latin typeface="Aptos" panose="020B0004020202020204" pitchFamily="34" charset="0"/>
              </a:rPr>
              <a:t>updateDoc troca o campo concluida.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0B268EF-A6B1-2B02-0C6E-E6E45FC7FC1B}"/>
              </a:ext>
            </a:extLst>
          </p:cNvPr>
          <p:cNvSpPr txBox="1"/>
          <p:nvPr/>
        </p:nvSpPr>
        <p:spPr>
          <a:xfrm>
            <a:off x="965200" y="4051300"/>
            <a:ext cx="10160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3200" b="1">
                <a:solidFill>
                  <a:srgbClr val="FFC652"/>
                </a:solidFill>
                <a:latin typeface="Aptos" panose="020B0004020202020204" pitchFamily="34" charset="0"/>
              </a:rPr>
              <a:t>Excluir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32481E5-83D7-88B6-FFFE-AAA279A52605}"/>
              </a:ext>
            </a:extLst>
          </p:cNvPr>
          <p:cNvSpPr txBox="1"/>
          <p:nvPr/>
        </p:nvSpPr>
        <p:spPr>
          <a:xfrm>
            <a:off x="990600" y="4787900"/>
            <a:ext cx="10160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300">
                <a:solidFill>
                  <a:srgbClr val="F7F9FC"/>
                </a:solidFill>
                <a:latin typeface="Aptos" panose="020B0004020202020204" pitchFamily="34" charset="0"/>
              </a:rPr>
              <a:t>deleteDoc remove a tarefa; a lista se atualiza.</a:t>
            </a:r>
          </a:p>
        </p:txBody>
      </p:sp>
    </p:spTree>
    <p:extLst>
      <p:ext uri="{BB962C8B-B14F-4D97-AF65-F5344CB8AC3E}">
        <p14:creationId xmlns:p14="http://schemas.microsoft.com/office/powerpoint/2010/main" val="27199346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0D29A0A-E70E-24C6-0047-46019871934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0F31220-B829-3956-A092-563237AFD278}"/>
              </a:ext>
            </a:extLst>
          </p:cNvPr>
          <p:cNvSpPr txBox="1"/>
          <p:nvPr/>
        </p:nvSpPr>
        <p:spPr>
          <a:xfrm>
            <a:off x="812800" y="457200"/>
            <a:ext cx="10414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3100" b="1">
                <a:solidFill>
                  <a:srgbClr val="F7F9FC"/>
                </a:solidFill>
                <a:latin typeface="Aptos" panose="020B0004020202020204" pitchFamily="34" charset="0"/>
              </a:rPr>
              <a:t>Quando algo falha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88216EA-5492-EE60-88DE-73BEDDCEBDD6}"/>
              </a:ext>
            </a:extLst>
          </p:cNvPr>
          <p:cNvSpPr txBox="1"/>
          <p:nvPr/>
        </p:nvSpPr>
        <p:spPr>
          <a:xfrm>
            <a:off x="838200" y="1219200"/>
            <a:ext cx="10541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>
                <a:solidFill>
                  <a:srgbClr val="A5B3C9"/>
                </a:solidFill>
                <a:latin typeface="Aptos" panose="020B0004020202020204" pitchFamily="34" charset="0"/>
              </a:rPr>
              <a:t>O usuário precisa entender o que aconteceu.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CBA84C5-3FB6-A82D-5FF2-05BC2A134E1C}"/>
              </a:ext>
            </a:extLst>
          </p:cNvPr>
          <p:cNvSpPr txBox="1"/>
          <p:nvPr/>
        </p:nvSpPr>
        <p:spPr>
          <a:xfrm>
            <a:off x="11379200" y="533400"/>
            <a:ext cx="508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100">
                <a:solidFill>
                  <a:srgbClr val="A5B3C9"/>
                </a:solidFill>
                <a:latin typeface="Aptos" panose="020B0004020202020204" pitchFamily="34" charset="0"/>
              </a:rPr>
              <a:t>16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3D29F5B-EA94-9766-6318-68BC436EBC2D}"/>
              </a:ext>
            </a:extLst>
          </p:cNvPr>
          <p:cNvSpPr txBox="1"/>
          <p:nvPr/>
        </p:nvSpPr>
        <p:spPr>
          <a:xfrm>
            <a:off x="838200" y="6553200"/>
            <a:ext cx="508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00">
                <a:solidFill>
                  <a:srgbClr val="A5B3C9"/>
                </a:solidFill>
                <a:latin typeface="Aptos" panose="020B0004020202020204" pitchFamily="34" charset="0"/>
              </a:rPr>
              <a:t>ListaTarefas  •  Aula 2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908E0DC-F3C4-D670-F458-1A2BFC3AE671}"/>
              </a:ext>
            </a:extLst>
          </p:cNvPr>
          <p:cNvSpPr txBox="1"/>
          <p:nvPr/>
        </p:nvSpPr>
        <p:spPr>
          <a:xfrm>
            <a:off x="965200" y="2108200"/>
            <a:ext cx="393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400" b="1">
                <a:solidFill>
                  <a:srgbClr val="2FC6F4"/>
                </a:solidFill>
                <a:latin typeface="Aptos" panose="020B0004020202020204" pitchFamily="34" charset="0"/>
              </a:rPr>
              <a:t>Sem rede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59F98D4-B15B-4493-4750-20B84094FD77}"/>
              </a:ext>
            </a:extLst>
          </p:cNvPr>
          <p:cNvSpPr txBox="1"/>
          <p:nvPr/>
        </p:nvSpPr>
        <p:spPr>
          <a:xfrm>
            <a:off x="4953000" y="2133600"/>
            <a:ext cx="6350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000">
                <a:solidFill>
                  <a:srgbClr val="F7F9FC"/>
                </a:solidFill>
                <a:latin typeface="Aptos" panose="020B0004020202020204" pitchFamily="34" charset="0"/>
              </a:rPr>
              <a:t>O app mostra uma mensagem e permite tentar de novo.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71AD36B-E561-A2AD-FA54-B1105BB5B597}"/>
              </a:ext>
            </a:extLst>
          </p:cNvPr>
          <p:cNvSpPr txBox="1"/>
          <p:nvPr/>
        </p:nvSpPr>
        <p:spPr>
          <a:xfrm>
            <a:off x="965200" y="3175000"/>
            <a:ext cx="393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400" b="1">
                <a:solidFill>
                  <a:srgbClr val="FFC652"/>
                </a:solidFill>
                <a:latin typeface="Aptos" panose="020B0004020202020204" pitchFamily="34" charset="0"/>
              </a:rPr>
              <a:t>Sem acesso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9BA2179-6AFB-0C3A-E02F-6B6D9F86018A}"/>
              </a:ext>
            </a:extLst>
          </p:cNvPr>
          <p:cNvSpPr txBox="1"/>
          <p:nvPr/>
        </p:nvSpPr>
        <p:spPr>
          <a:xfrm>
            <a:off x="4953000" y="3200400"/>
            <a:ext cx="6350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000">
                <a:solidFill>
                  <a:srgbClr val="F7F9FC"/>
                </a:solidFill>
                <a:latin typeface="Aptos" panose="020B0004020202020204" pitchFamily="34" charset="0"/>
              </a:rPr>
              <a:t>Confira o banco e as regras do Firestore.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176588F-F539-1216-6C8A-4D3495EC5FAF}"/>
              </a:ext>
            </a:extLst>
          </p:cNvPr>
          <p:cNvSpPr txBox="1"/>
          <p:nvPr/>
        </p:nvSpPr>
        <p:spPr>
          <a:xfrm>
            <a:off x="965200" y="4241800"/>
            <a:ext cx="393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400" b="1">
                <a:solidFill>
                  <a:srgbClr val="2BD3A4"/>
                </a:solidFill>
                <a:latin typeface="Aptos" panose="020B0004020202020204" pitchFamily="34" charset="0"/>
              </a:rPr>
              <a:t>Ao salvar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AA5FD2C-5E47-0C0E-F631-4013E103E63F}"/>
              </a:ext>
            </a:extLst>
          </p:cNvPr>
          <p:cNvSpPr txBox="1"/>
          <p:nvPr/>
        </p:nvSpPr>
        <p:spPr>
          <a:xfrm>
            <a:off x="4953000" y="4267200"/>
            <a:ext cx="6350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000">
                <a:solidFill>
                  <a:srgbClr val="F7F9FC"/>
                </a:solidFill>
                <a:latin typeface="Aptos" panose="020B0004020202020204" pitchFamily="34" charset="0"/>
              </a:rPr>
              <a:t>O botão indica que a operação está em andamento.</a:t>
            </a:r>
          </a:p>
        </p:txBody>
      </p:sp>
    </p:spTree>
    <p:extLst>
      <p:ext uri="{BB962C8B-B14F-4D97-AF65-F5344CB8AC3E}">
        <p14:creationId xmlns:p14="http://schemas.microsoft.com/office/powerpoint/2010/main" val="17037777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0A5B1D24-8189-8A95-7D57-DCAA84064E7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3FC66D5-F01A-6264-CF16-2A23A01A22EC}"/>
              </a:ext>
            </a:extLst>
          </p:cNvPr>
          <p:cNvSpPr txBox="1"/>
          <p:nvPr/>
        </p:nvSpPr>
        <p:spPr>
          <a:xfrm>
            <a:off x="812800" y="457200"/>
            <a:ext cx="10414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3100" b="1">
                <a:solidFill>
                  <a:srgbClr val="F7F9FC"/>
                </a:solidFill>
                <a:latin typeface="Aptos" panose="020B0004020202020204" pitchFamily="34" charset="0"/>
              </a:rPr>
              <a:t>Teste final e desafio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E777584-E7E9-C7C3-23BB-B8F9086B28EF}"/>
              </a:ext>
            </a:extLst>
          </p:cNvPr>
          <p:cNvSpPr txBox="1"/>
          <p:nvPr/>
        </p:nvSpPr>
        <p:spPr>
          <a:xfrm>
            <a:off x="838200" y="1219200"/>
            <a:ext cx="10541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>
                <a:solidFill>
                  <a:srgbClr val="A5B3C9"/>
                </a:solidFill>
                <a:latin typeface="Aptos" panose="020B0004020202020204" pitchFamily="34" charset="0"/>
              </a:rPr>
              <a:t>Confira o CRUD antes de encerrar a prática.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9FA864E-D583-28DC-3B34-C40A906D088D}"/>
              </a:ext>
            </a:extLst>
          </p:cNvPr>
          <p:cNvSpPr txBox="1"/>
          <p:nvPr/>
        </p:nvSpPr>
        <p:spPr>
          <a:xfrm>
            <a:off x="11379200" y="533400"/>
            <a:ext cx="508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100">
                <a:solidFill>
                  <a:srgbClr val="A5B3C9"/>
                </a:solidFill>
                <a:latin typeface="Aptos" panose="020B0004020202020204" pitchFamily="34" charset="0"/>
              </a:rPr>
              <a:t>17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634F488-2154-EFEB-AB59-D0CCF9C227D2}"/>
              </a:ext>
            </a:extLst>
          </p:cNvPr>
          <p:cNvSpPr txBox="1"/>
          <p:nvPr/>
        </p:nvSpPr>
        <p:spPr>
          <a:xfrm>
            <a:off x="838200" y="6553200"/>
            <a:ext cx="508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00">
                <a:solidFill>
                  <a:srgbClr val="A5B3C9"/>
                </a:solidFill>
                <a:latin typeface="Aptos" panose="020B0004020202020204" pitchFamily="34" charset="0"/>
              </a:rPr>
              <a:t>ListaTarefas  •  Aula 2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06B6527-F415-AC5C-51FF-4AE121C630A7}"/>
              </a:ext>
            </a:extLst>
          </p:cNvPr>
          <p:cNvSpPr txBox="1"/>
          <p:nvPr/>
        </p:nvSpPr>
        <p:spPr>
          <a:xfrm>
            <a:off x="914400" y="2273300"/>
            <a:ext cx="104648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900" b="1">
                <a:solidFill>
                  <a:srgbClr val="2FC6F4"/>
                </a:solidFill>
                <a:latin typeface="Aptos" panose="020B0004020202020204" pitchFamily="34" charset="0"/>
              </a:rPr>
              <a:t>Adicionar  →  listar  →  concluir  →  excluir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19F7E6D-3E28-1537-9032-040E9C643EE2}"/>
              </a:ext>
            </a:extLst>
          </p:cNvPr>
          <p:cNvSpPr txBox="1"/>
          <p:nvPr/>
        </p:nvSpPr>
        <p:spPr>
          <a:xfrm>
            <a:off x="939800" y="3429000"/>
            <a:ext cx="103124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200">
                <a:solidFill>
                  <a:srgbClr val="F7F9FC"/>
                </a:solidFill>
                <a:latin typeface="Aptos" panose="020B0004020202020204" pitchFamily="34" charset="0"/>
              </a:rPr>
              <a:t>Feche e abra o app: as tarefas continuam no Firestore.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7F32E20-5234-9E8B-4B89-AC903063BD02}"/>
              </a:ext>
            </a:extLst>
          </p:cNvPr>
          <p:cNvSpPr txBox="1"/>
          <p:nvPr/>
        </p:nvSpPr>
        <p:spPr>
          <a:xfrm>
            <a:off x="939800" y="4673600"/>
            <a:ext cx="10312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400" b="1">
                <a:solidFill>
                  <a:srgbClr val="2BD3A4"/>
                </a:solidFill>
                <a:latin typeface="Aptos" panose="020B0004020202020204" pitchFamily="34" charset="0"/>
              </a:rPr>
              <a:t>Desafio: dê outra cor e um risco ao título de tarefas concluídas.</a:t>
            </a:r>
          </a:p>
        </p:txBody>
      </p:sp>
    </p:spTree>
    <p:extLst>
      <p:ext uri="{BB962C8B-B14F-4D97-AF65-F5344CB8AC3E}">
        <p14:creationId xmlns:p14="http://schemas.microsoft.com/office/powerpoint/2010/main" val="59937981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710</Words>
  <Application>Microsoft Office PowerPoint</Application>
  <PresentationFormat>Personalizar</PresentationFormat>
  <Paragraphs>138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2" baseType="lpstr">
      <vt:lpstr>Aptos</vt:lpstr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Edwin Medina</dc:creator>
  <cp:lastModifiedBy>Edwin Medina</cp:lastModifiedBy>
  <cp:revision>1</cp:revision>
  <dcterms:created xsi:type="dcterms:W3CDTF">2026-09-25T21:47:16Z</dcterms:created>
  <dcterms:modified xsi:type="dcterms:W3CDTF">2026-09-25T21:47:16Z</dcterms:modified>
</cp:coreProperties>
</file>